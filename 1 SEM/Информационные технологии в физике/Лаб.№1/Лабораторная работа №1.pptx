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14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84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31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12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32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09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50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39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48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08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21B49-E93B-411C-BF87-FBDDAE397A37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5036F-4F44-444E-9982-85D8886B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50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dmitrybaranovivt/%D0%BE%D1%82%D1%87%D1%91%D1%8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41236" y="0"/>
            <a:ext cx="8109527" cy="2198256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/>
              <a:t/>
            </a:r>
            <a:br>
              <a:rPr lang="ru-RU" sz="2800" dirty="0"/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№1</a:t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видимых траекторий движения планет солнечной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7307" y="4895273"/>
            <a:ext cx="10917383" cy="1784927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Адаменко С.С</a:t>
            </a:r>
          </a:p>
          <a:p>
            <a:pPr algn="r"/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Гневнов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А.Е</a:t>
            </a:r>
          </a:p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Дмитрий Б.А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88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Цель</a:t>
            </a:r>
            <a:r>
              <a:rPr lang="en-US" b="1" dirty="0" smtClean="0"/>
              <a:t>: </a:t>
            </a:r>
            <a:r>
              <a:rPr lang="ru-RU" sz="2400" dirty="0"/>
              <a:t>провести вычислительный эксперимент для исследования видимых траекторий движения планет Солнечной системы</a:t>
            </a:r>
            <a:r>
              <a:rPr lang="ru-RU" dirty="0"/>
              <a:t>.</a:t>
            </a:r>
            <a:endParaRPr lang="ru-RU" b="1" dirty="0" smtClean="0"/>
          </a:p>
          <a:p>
            <a:r>
              <a:rPr lang="ru-RU" b="1" dirty="0" smtClean="0"/>
              <a:t>Постановка задачи</a:t>
            </a:r>
            <a:r>
              <a:rPr lang="en-US" dirty="0" smtClean="0"/>
              <a:t>: </a:t>
            </a:r>
            <a:r>
              <a:rPr lang="ru-RU" sz="2400" dirty="0">
                <a:cs typeface="Times New Roman" panose="02020603050405020304" pitchFamily="18" charset="0"/>
              </a:rPr>
              <a:t>Организовать и провести вычислительный эксперимент для исследования видимых траекторий движения планет Солнечной </a:t>
            </a:r>
            <a:r>
              <a:rPr lang="ru-RU" sz="2400" dirty="0" smtClean="0">
                <a:cs typeface="Times New Roman" panose="02020603050405020304" pitchFamily="18" charset="0"/>
              </a:rPr>
              <a:t>системы и по </a:t>
            </a:r>
            <a:r>
              <a:rPr lang="ru-RU" sz="2400" dirty="0">
                <a:cs typeface="Times New Roman" panose="02020603050405020304" pitchFamily="18" charset="0"/>
              </a:rPr>
              <a:t>результатам проведения исследования разработать «портфолио исследователя</a:t>
            </a:r>
            <a:r>
              <a:rPr lang="ru-RU" sz="2400" dirty="0" smtClean="0">
                <a:cs typeface="Times New Roman" panose="02020603050405020304" pitchFamily="18" charset="0"/>
              </a:rPr>
              <a:t>».</a:t>
            </a:r>
            <a:endParaRPr lang="en-US" sz="2400" dirty="0" smtClean="0">
              <a:cs typeface="Times New Roman" panose="02020603050405020304" pitchFamily="18" charset="0"/>
            </a:endParaRPr>
          </a:p>
          <a:p>
            <a:r>
              <a:rPr lang="ru-RU" b="1" dirty="0" smtClean="0">
                <a:cs typeface="Times New Roman" panose="02020603050405020304" pitchFamily="18" charset="0"/>
              </a:rPr>
              <a:t>Оборудование</a:t>
            </a:r>
            <a:r>
              <a:rPr lang="en-US" dirty="0" smtClean="0">
                <a:cs typeface="Times New Roman" panose="02020603050405020304" pitchFamily="18" charset="0"/>
              </a:rPr>
              <a:t>: </a:t>
            </a:r>
            <a:r>
              <a:rPr lang="ru-RU" sz="2400" dirty="0"/>
              <a:t>ПК, язык программирования </a:t>
            </a:r>
            <a:r>
              <a:rPr lang="en-US" sz="2400" dirty="0"/>
              <a:t>Python</a:t>
            </a:r>
            <a:r>
              <a:rPr lang="ru-RU" sz="2400" dirty="0"/>
              <a:t>, среда разработки </a:t>
            </a:r>
            <a:r>
              <a:rPr lang="en-US" sz="2400" dirty="0" err="1"/>
              <a:t>PyCharm</a:t>
            </a:r>
            <a:r>
              <a:rPr lang="ru-RU" dirty="0"/>
              <a:t>.</a:t>
            </a:r>
          </a:p>
          <a:p>
            <a:endParaRPr lang="ru-RU" dirty="0" smtClean="0">
              <a:cs typeface="Times New Roman" panose="02020603050405020304" pitchFamily="18" charset="0"/>
            </a:endParaRPr>
          </a:p>
          <a:p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16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Движение Марса относительно Земли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439400" cy="3398548"/>
          </a:xfrm>
        </p:spPr>
        <p:txBody>
          <a:bodyPr numCol="2">
            <a:normAutofit fontScale="40000" lnSpcReduction="20000"/>
          </a:bodyPr>
          <a:lstStyle/>
          <a:p>
            <a:pPr marL="0" indent="0" algn="ctr">
              <a:buNone/>
            </a:pPr>
            <a:r>
              <a:rPr lang="ru-RU" sz="4500" b="1" dirty="0" smtClean="0"/>
              <a:t>Марс</a:t>
            </a:r>
            <a:endParaRPr lang="en-US" sz="4500" b="1" dirty="0" smtClean="0"/>
          </a:p>
          <a:p>
            <a:r>
              <a:rPr lang="en-US" sz="4500" dirty="0" smtClean="0"/>
              <a:t>x </a:t>
            </a:r>
            <a:r>
              <a:rPr lang="en-US" sz="4500" dirty="0"/>
              <a:t>= r1 * cos(w1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ru-RU" sz="4500" dirty="0" smtClean="0"/>
              <a:t>      </a:t>
            </a:r>
          </a:p>
          <a:p>
            <a:r>
              <a:rPr lang="en-US" sz="4500" dirty="0" smtClean="0"/>
              <a:t>y = </a:t>
            </a:r>
            <a:r>
              <a:rPr lang="en-US" sz="4500" dirty="0"/>
              <a:t>r1 * sin(w1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 smtClean="0"/>
          </a:p>
          <a:p>
            <a:r>
              <a:rPr lang="en-US" sz="4500" dirty="0"/>
              <a:t>r</a:t>
            </a:r>
            <a:r>
              <a:rPr lang="ru-RU" sz="4500" dirty="0"/>
              <a:t>1 = 228 000 000 км (расстояние от Марса до Солнца)</a:t>
            </a:r>
          </a:p>
          <a:p>
            <a:r>
              <a:rPr lang="en-US" sz="4500" dirty="0"/>
              <a:t>T</a:t>
            </a:r>
            <a:r>
              <a:rPr lang="ru-RU" sz="4500" dirty="0"/>
              <a:t> = 687 дней 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en-US" sz="4500" dirty="0"/>
              <a:t>t</a:t>
            </a:r>
            <a:r>
              <a:rPr lang="ru-RU" sz="4500" dirty="0"/>
              <a:t> – берём произвольное значение</a:t>
            </a:r>
          </a:p>
          <a:p>
            <a:r>
              <a:rPr lang="en-US" sz="4500" dirty="0"/>
              <a:t>w</a:t>
            </a:r>
            <a:r>
              <a:rPr lang="ru-RU" sz="4500" dirty="0"/>
              <a:t>1 = 0.00914583 (угловая скорость</a:t>
            </a:r>
            <a:r>
              <a:rPr lang="ru-RU" sz="4500" dirty="0" smtClean="0"/>
              <a:t>)</a:t>
            </a:r>
            <a:endParaRPr lang="en-US" sz="4500" dirty="0" smtClean="0"/>
          </a:p>
          <a:p>
            <a:endParaRPr lang="en-US" sz="4500" dirty="0"/>
          </a:p>
          <a:p>
            <a:endParaRPr lang="en-US" sz="4500" dirty="0" smtClean="0"/>
          </a:p>
          <a:p>
            <a:pPr marL="0" indent="0" algn="ctr">
              <a:buNone/>
            </a:pPr>
            <a:r>
              <a:rPr lang="ru-RU" sz="4500" b="1" dirty="0" smtClean="0"/>
              <a:t>Земля</a:t>
            </a:r>
            <a:endParaRPr lang="en-US" sz="4500" b="1" dirty="0" smtClean="0"/>
          </a:p>
          <a:p>
            <a:r>
              <a:rPr lang="en-US" sz="4500" dirty="0" smtClean="0"/>
              <a:t>x = </a:t>
            </a:r>
            <a:r>
              <a:rPr lang="en-US" sz="4500" dirty="0"/>
              <a:t>r2 * cos(w2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en-US" sz="4500" dirty="0"/>
              <a:t>       </a:t>
            </a:r>
            <a:endParaRPr lang="ru-RU" sz="4500" dirty="0"/>
          </a:p>
          <a:p>
            <a:r>
              <a:rPr lang="en-US" sz="4500" dirty="0" smtClean="0"/>
              <a:t>y = r2 </a:t>
            </a:r>
            <a:r>
              <a:rPr lang="en-US" sz="4500" dirty="0"/>
              <a:t>* sin(w2 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/>
          </a:p>
          <a:p>
            <a:r>
              <a:rPr lang="ru-RU" sz="4500" dirty="0"/>
              <a:t>r2 = 149 600 000 км (расстояние от Земли до Солнца)</a:t>
            </a:r>
          </a:p>
          <a:p>
            <a:r>
              <a:rPr lang="ru-RU" sz="4500" dirty="0"/>
              <a:t>Т = 365 дней 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ru-RU" sz="4500" dirty="0"/>
              <a:t>t - берём произвольное значение </a:t>
            </a:r>
          </a:p>
          <a:p>
            <a:r>
              <a:rPr lang="ru-RU" sz="4500" dirty="0"/>
              <a:t>w2 = 0.0172142 (угловая скорость)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540280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Уравнение движение Марса относительно Земли</a:t>
            </a:r>
            <a:r>
              <a:rPr lang="en-US" b="1" dirty="0" smtClean="0"/>
              <a:t>:</a:t>
            </a:r>
          </a:p>
          <a:p>
            <a:r>
              <a:rPr lang="en-US" dirty="0"/>
              <a:t>x = r1 * cos(w1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cos(w2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r>
              <a:rPr lang="en-US" dirty="0"/>
              <a:t>  </a:t>
            </a:r>
            <a:endParaRPr lang="ru-RU" dirty="0"/>
          </a:p>
          <a:p>
            <a:r>
              <a:rPr lang="en-US" dirty="0"/>
              <a:t>y = r1 * sin(w1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sin(w2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800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Траектория движения Марса относительно Земли</a:t>
            </a:r>
            <a:endParaRPr lang="ru-RU" sz="36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549" y="1690688"/>
            <a:ext cx="6408901" cy="468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8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Движение Венеры относительно Земли</a:t>
            </a:r>
            <a:endParaRPr lang="ru-RU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439400" cy="3398548"/>
          </a:xfrm>
        </p:spPr>
        <p:txBody>
          <a:bodyPr numCol="2">
            <a:normAutofit fontScale="40000" lnSpcReduction="20000"/>
          </a:bodyPr>
          <a:lstStyle/>
          <a:p>
            <a:pPr marL="0" indent="0" algn="ctr">
              <a:buNone/>
            </a:pPr>
            <a:r>
              <a:rPr lang="ru-RU" sz="4500" b="1" dirty="0" smtClean="0"/>
              <a:t>Венера</a:t>
            </a:r>
          </a:p>
          <a:p>
            <a:r>
              <a:rPr lang="en-US" sz="4500" dirty="0" smtClean="0"/>
              <a:t>x </a:t>
            </a:r>
            <a:r>
              <a:rPr lang="en-US" sz="4500" dirty="0"/>
              <a:t>= r1 * cos(w1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ru-RU" sz="4500" dirty="0" smtClean="0"/>
              <a:t>      </a:t>
            </a:r>
          </a:p>
          <a:p>
            <a:r>
              <a:rPr lang="en-US" sz="4500" dirty="0" smtClean="0"/>
              <a:t>y = </a:t>
            </a:r>
            <a:r>
              <a:rPr lang="en-US" sz="4500" dirty="0"/>
              <a:t>r1 * sin(w1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 smtClean="0"/>
          </a:p>
          <a:p>
            <a:r>
              <a:rPr lang="en-US" sz="4500" dirty="0"/>
              <a:t>r</a:t>
            </a:r>
            <a:r>
              <a:rPr lang="ru-RU" sz="4500" dirty="0"/>
              <a:t>1 = </a:t>
            </a:r>
            <a:r>
              <a:rPr lang="ru-RU" sz="4500" dirty="0" smtClean="0"/>
              <a:t>108</a:t>
            </a:r>
            <a:r>
              <a:rPr lang="ru-RU" sz="4500" dirty="0"/>
              <a:t> 000 000 км (расстояние от </a:t>
            </a:r>
            <a:r>
              <a:rPr lang="ru-RU" sz="4500" dirty="0" smtClean="0"/>
              <a:t>Венеры </a:t>
            </a:r>
            <a:r>
              <a:rPr lang="ru-RU" sz="4500" dirty="0"/>
              <a:t>до Солнца)</a:t>
            </a:r>
          </a:p>
          <a:p>
            <a:r>
              <a:rPr lang="en-US" sz="4500" dirty="0"/>
              <a:t>T</a:t>
            </a:r>
            <a:r>
              <a:rPr lang="ru-RU" sz="4500" dirty="0"/>
              <a:t> = </a:t>
            </a:r>
            <a:r>
              <a:rPr lang="ru-RU" sz="4500" dirty="0" smtClean="0"/>
              <a:t>224.7 </a:t>
            </a:r>
            <a:r>
              <a:rPr lang="ru-RU" sz="4500" dirty="0"/>
              <a:t>дней 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en-US" sz="4500" dirty="0"/>
              <a:t>t</a:t>
            </a:r>
            <a:r>
              <a:rPr lang="ru-RU" sz="4500" dirty="0"/>
              <a:t> – берём произвольное значение</a:t>
            </a:r>
          </a:p>
          <a:p>
            <a:r>
              <a:rPr lang="en-US" sz="4500" dirty="0"/>
              <a:t>w</a:t>
            </a:r>
            <a:r>
              <a:rPr lang="ru-RU" sz="4500" dirty="0"/>
              <a:t>1 = </a:t>
            </a:r>
            <a:r>
              <a:rPr lang="ru-RU" sz="4500" dirty="0" smtClean="0"/>
              <a:t>0.0279626 </a:t>
            </a:r>
            <a:r>
              <a:rPr lang="ru-RU" sz="4500" dirty="0"/>
              <a:t>(угловая скорость</a:t>
            </a:r>
            <a:r>
              <a:rPr lang="ru-RU" sz="4500" dirty="0" smtClean="0"/>
              <a:t>)</a:t>
            </a:r>
            <a:endParaRPr lang="en-US" sz="4500" dirty="0" smtClean="0"/>
          </a:p>
          <a:p>
            <a:endParaRPr lang="en-US" sz="4500" dirty="0"/>
          </a:p>
          <a:p>
            <a:endParaRPr lang="en-US" sz="4500" dirty="0" smtClean="0"/>
          </a:p>
          <a:p>
            <a:pPr marL="0" indent="0" algn="ctr">
              <a:buNone/>
            </a:pPr>
            <a:r>
              <a:rPr lang="ru-RU" sz="4500" b="1" dirty="0" smtClean="0"/>
              <a:t>Земля</a:t>
            </a:r>
            <a:endParaRPr lang="en-US" sz="4500" b="1" dirty="0" smtClean="0"/>
          </a:p>
          <a:p>
            <a:r>
              <a:rPr lang="en-US" sz="4500" dirty="0" smtClean="0"/>
              <a:t>x = </a:t>
            </a:r>
            <a:r>
              <a:rPr lang="en-US" sz="4500" dirty="0"/>
              <a:t>r2 * cos(w2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en-US" sz="4500" dirty="0"/>
              <a:t>       </a:t>
            </a:r>
            <a:endParaRPr lang="ru-RU" sz="4500" dirty="0"/>
          </a:p>
          <a:p>
            <a:r>
              <a:rPr lang="en-US" sz="4500" dirty="0" smtClean="0"/>
              <a:t>y = r2 </a:t>
            </a:r>
            <a:r>
              <a:rPr lang="en-US" sz="4500" dirty="0"/>
              <a:t>* sin(w2 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/>
          </a:p>
          <a:p>
            <a:r>
              <a:rPr lang="ru-RU" sz="4500" dirty="0"/>
              <a:t>r2 = 149 600 000 км (расстояние от Земли до Солнца)</a:t>
            </a:r>
          </a:p>
          <a:p>
            <a:r>
              <a:rPr lang="ru-RU" sz="4500" dirty="0"/>
              <a:t>Т = 365 дней 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ru-RU" sz="4500" dirty="0"/>
              <a:t>t - берём произвольное значение </a:t>
            </a:r>
          </a:p>
          <a:p>
            <a:r>
              <a:rPr lang="ru-RU" sz="4500" dirty="0"/>
              <a:t>w2 = 0.0172142 (угловая скорость)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508923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Уравнение движение Венеры относительно Земли</a:t>
            </a:r>
            <a:r>
              <a:rPr lang="en-US" b="1" dirty="0" smtClean="0"/>
              <a:t>:</a:t>
            </a:r>
          </a:p>
          <a:p>
            <a:r>
              <a:rPr lang="en-US" dirty="0"/>
              <a:t>x = r1 * cos(w1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cos(w2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r>
              <a:rPr lang="en-US" dirty="0"/>
              <a:t>  </a:t>
            </a:r>
            <a:endParaRPr lang="ru-RU" dirty="0"/>
          </a:p>
          <a:p>
            <a:r>
              <a:rPr lang="en-US" dirty="0"/>
              <a:t>y = r1 * sin(w1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sin(w2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26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Траектория движения </a:t>
            </a:r>
            <a:r>
              <a:rPr lang="ru-RU" sz="3600" dirty="0" smtClean="0"/>
              <a:t>Венеры относительно </a:t>
            </a:r>
            <a:r>
              <a:rPr lang="ru-RU" sz="3600" dirty="0"/>
              <a:t>Земли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721" y="1690688"/>
            <a:ext cx="5546558" cy="467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2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Движение Сатурна относительно Земли</a:t>
            </a:r>
            <a:endParaRPr lang="ru-RU" b="1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439400" cy="3398548"/>
          </a:xfrm>
        </p:spPr>
        <p:txBody>
          <a:bodyPr numCol="2">
            <a:normAutofit fontScale="40000" lnSpcReduction="20000"/>
          </a:bodyPr>
          <a:lstStyle/>
          <a:p>
            <a:pPr marL="0" indent="0" algn="ctr">
              <a:buNone/>
            </a:pPr>
            <a:r>
              <a:rPr lang="ru-RU" sz="4500" b="1" dirty="0" smtClean="0"/>
              <a:t>Сатурн</a:t>
            </a:r>
          </a:p>
          <a:p>
            <a:r>
              <a:rPr lang="en-US" sz="4500" dirty="0" smtClean="0"/>
              <a:t>x </a:t>
            </a:r>
            <a:r>
              <a:rPr lang="en-US" sz="4500" dirty="0"/>
              <a:t>= r1 * cos(w1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ru-RU" sz="4500" dirty="0" smtClean="0"/>
              <a:t>      </a:t>
            </a:r>
          </a:p>
          <a:p>
            <a:r>
              <a:rPr lang="en-US" sz="4500" dirty="0" smtClean="0"/>
              <a:t>y = </a:t>
            </a:r>
            <a:r>
              <a:rPr lang="en-US" sz="4500" dirty="0"/>
              <a:t>r1 * sin(w1 * t + </a:t>
            </a:r>
            <a:r>
              <a:rPr lang="ru-RU" sz="4500" dirty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 smtClean="0"/>
          </a:p>
          <a:p>
            <a:r>
              <a:rPr lang="en-US" sz="4500" dirty="0"/>
              <a:t>r</a:t>
            </a:r>
            <a:r>
              <a:rPr lang="ru-RU" sz="4500" dirty="0"/>
              <a:t>1 = </a:t>
            </a:r>
            <a:r>
              <a:rPr lang="ru-RU" sz="4500" dirty="0" smtClean="0"/>
              <a:t>1 430</a:t>
            </a:r>
            <a:r>
              <a:rPr lang="ru-RU" sz="4500" dirty="0"/>
              <a:t> 000 000 км (расстояние от </a:t>
            </a:r>
            <a:r>
              <a:rPr lang="ru-RU" sz="4500" dirty="0" smtClean="0"/>
              <a:t>Сатурна до </a:t>
            </a:r>
            <a:r>
              <a:rPr lang="ru-RU" sz="4500" dirty="0"/>
              <a:t>Солнца)</a:t>
            </a:r>
          </a:p>
          <a:p>
            <a:r>
              <a:rPr lang="en-US" sz="4500" dirty="0"/>
              <a:t>T</a:t>
            </a:r>
            <a:r>
              <a:rPr lang="ru-RU" sz="4500" dirty="0"/>
              <a:t> = </a:t>
            </a:r>
            <a:r>
              <a:rPr lang="ru-RU" sz="4500" dirty="0" smtClean="0"/>
              <a:t>10 585дней </a:t>
            </a:r>
            <a:r>
              <a:rPr lang="ru-RU" sz="4500" dirty="0"/>
              <a:t>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en-US" sz="4500" dirty="0"/>
              <a:t>t</a:t>
            </a:r>
            <a:r>
              <a:rPr lang="ru-RU" sz="4500" dirty="0"/>
              <a:t> – берём произвольное значение</a:t>
            </a:r>
          </a:p>
          <a:p>
            <a:r>
              <a:rPr lang="en-US" sz="4500" dirty="0"/>
              <a:t>w</a:t>
            </a:r>
            <a:r>
              <a:rPr lang="ru-RU" sz="4500" dirty="0"/>
              <a:t>1 = 0,000593593</a:t>
            </a:r>
            <a:r>
              <a:rPr lang="ru-RU" dirty="0"/>
              <a:t> </a:t>
            </a:r>
            <a:r>
              <a:rPr lang="ru-RU" sz="4500" dirty="0" smtClean="0"/>
              <a:t>(</a:t>
            </a:r>
            <a:r>
              <a:rPr lang="ru-RU" sz="4500" dirty="0"/>
              <a:t>угловая скорость</a:t>
            </a:r>
            <a:r>
              <a:rPr lang="ru-RU" sz="4500" dirty="0" smtClean="0"/>
              <a:t>)</a:t>
            </a:r>
            <a:endParaRPr lang="en-US" sz="4500" dirty="0" smtClean="0"/>
          </a:p>
          <a:p>
            <a:endParaRPr lang="en-US" sz="4500" dirty="0"/>
          </a:p>
          <a:p>
            <a:endParaRPr lang="en-US" sz="4500" dirty="0" smtClean="0"/>
          </a:p>
          <a:p>
            <a:pPr marL="0" indent="0" algn="ctr">
              <a:buNone/>
            </a:pPr>
            <a:r>
              <a:rPr lang="ru-RU" sz="4500" b="1" dirty="0" smtClean="0"/>
              <a:t>Земля</a:t>
            </a:r>
            <a:endParaRPr lang="en-US" sz="4500" b="1" dirty="0" smtClean="0"/>
          </a:p>
          <a:p>
            <a:r>
              <a:rPr lang="en-US" sz="4500" dirty="0" smtClean="0"/>
              <a:t>x = </a:t>
            </a:r>
            <a:r>
              <a:rPr lang="en-US" sz="4500" dirty="0"/>
              <a:t>r2 * cos(w2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r>
              <a:rPr lang="en-US" sz="4500" dirty="0"/>
              <a:t>       </a:t>
            </a:r>
            <a:endParaRPr lang="ru-RU" sz="4500" dirty="0"/>
          </a:p>
          <a:p>
            <a:r>
              <a:rPr lang="en-US" sz="4500" dirty="0" smtClean="0"/>
              <a:t>y = r2 </a:t>
            </a:r>
            <a:r>
              <a:rPr lang="en-US" sz="4500" dirty="0"/>
              <a:t>* sin(w2  * t </a:t>
            </a:r>
            <a:r>
              <a:rPr lang="en-US" sz="4500" dirty="0" smtClean="0"/>
              <a:t>+ </a:t>
            </a:r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en-US" sz="4500" dirty="0" smtClean="0"/>
              <a:t>)</a:t>
            </a:r>
            <a:endParaRPr lang="ru-RU" sz="4500" dirty="0"/>
          </a:p>
          <a:p>
            <a:r>
              <a:rPr lang="ru-RU" sz="4500" dirty="0"/>
              <a:t>r2 = 149 600 000 км (расстояние от Земли до Солнца)</a:t>
            </a:r>
          </a:p>
          <a:p>
            <a:r>
              <a:rPr lang="ru-RU" sz="4500" dirty="0"/>
              <a:t>Т = 365 дней (период обращения)</a:t>
            </a:r>
          </a:p>
          <a:p>
            <a:r>
              <a:rPr lang="ru-RU" sz="4500" dirty="0" smtClean="0">
                <a:sym typeface="Symbol" panose="05050102010706020507" pitchFamily="18" charset="2"/>
              </a:rPr>
              <a:t></a:t>
            </a:r>
            <a:r>
              <a:rPr lang="ru-RU" sz="4500" dirty="0" smtClean="0"/>
              <a:t> </a:t>
            </a:r>
            <a:r>
              <a:rPr lang="ru-RU" sz="4500" dirty="0"/>
              <a:t>= 0</a:t>
            </a:r>
          </a:p>
          <a:p>
            <a:r>
              <a:rPr lang="ru-RU" sz="4500" dirty="0"/>
              <a:t>t - берём произвольное значение </a:t>
            </a:r>
          </a:p>
          <a:p>
            <a:r>
              <a:rPr lang="ru-RU" sz="4500" dirty="0"/>
              <a:t>w2 = 0.0172142 (угловая скорость)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08923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Уравнение движение Сатурна относительно Земли</a:t>
            </a:r>
            <a:r>
              <a:rPr lang="en-US" b="1" dirty="0" smtClean="0"/>
              <a:t>:</a:t>
            </a:r>
          </a:p>
          <a:p>
            <a:r>
              <a:rPr lang="en-US" dirty="0"/>
              <a:t>x = r1 * cos(w1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cos(w2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r>
              <a:rPr lang="en-US" dirty="0"/>
              <a:t>  </a:t>
            </a:r>
            <a:endParaRPr lang="ru-RU" dirty="0"/>
          </a:p>
          <a:p>
            <a:r>
              <a:rPr lang="en-US" dirty="0"/>
              <a:t>y = r1 * sin(w1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sin(w2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53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Траектория движения </a:t>
            </a:r>
            <a:r>
              <a:rPr lang="ru-RU" sz="3600" dirty="0" smtClean="0"/>
              <a:t>Сатурна </a:t>
            </a:r>
            <a:r>
              <a:rPr lang="ru-RU" sz="3600" dirty="0"/>
              <a:t>относительно Земли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012" y="1690688"/>
            <a:ext cx="616797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8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Движение Венеры относительно Марса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439400" cy="3398548"/>
          </a:xfrm>
        </p:spPr>
        <p:txBody>
          <a:bodyPr numCol="2">
            <a:normAutofit fontScale="25000" lnSpcReduction="20000"/>
          </a:bodyPr>
          <a:lstStyle/>
          <a:p>
            <a:pPr marL="0" indent="0" algn="ctr">
              <a:buNone/>
            </a:pPr>
            <a:r>
              <a:rPr lang="ru-RU" sz="7200" b="1" dirty="0" smtClean="0"/>
              <a:t>Венера</a:t>
            </a:r>
          </a:p>
          <a:p>
            <a:r>
              <a:rPr lang="en-US" sz="7200" dirty="0" smtClean="0"/>
              <a:t>x </a:t>
            </a:r>
            <a:r>
              <a:rPr lang="en-US" sz="7200" dirty="0"/>
              <a:t>= r1 * cos(w1 * t + </a:t>
            </a:r>
            <a:r>
              <a:rPr lang="ru-RU" sz="7200" dirty="0">
                <a:sym typeface="Symbol" panose="05050102010706020507" pitchFamily="18" charset="2"/>
              </a:rPr>
              <a:t></a:t>
            </a:r>
            <a:r>
              <a:rPr lang="en-US" sz="7200" dirty="0" smtClean="0"/>
              <a:t>)</a:t>
            </a:r>
            <a:r>
              <a:rPr lang="ru-RU" sz="7200" dirty="0" smtClean="0"/>
              <a:t>      </a:t>
            </a:r>
          </a:p>
          <a:p>
            <a:r>
              <a:rPr lang="en-US" sz="7200" dirty="0" smtClean="0"/>
              <a:t>y = </a:t>
            </a:r>
            <a:r>
              <a:rPr lang="en-US" sz="7200" dirty="0"/>
              <a:t>r1 * sin(w1 * t + </a:t>
            </a:r>
            <a:r>
              <a:rPr lang="ru-RU" sz="7200" dirty="0">
                <a:sym typeface="Symbol" panose="05050102010706020507" pitchFamily="18" charset="2"/>
              </a:rPr>
              <a:t></a:t>
            </a:r>
            <a:r>
              <a:rPr lang="en-US" sz="7200" dirty="0" smtClean="0"/>
              <a:t>)</a:t>
            </a:r>
            <a:endParaRPr lang="ru-RU" sz="7200" dirty="0" smtClean="0"/>
          </a:p>
          <a:p>
            <a:r>
              <a:rPr lang="en-US" sz="7200" dirty="0"/>
              <a:t>r</a:t>
            </a:r>
            <a:r>
              <a:rPr lang="ru-RU" sz="7200" dirty="0"/>
              <a:t>1 = </a:t>
            </a:r>
            <a:r>
              <a:rPr lang="ru-RU" sz="7200" dirty="0" smtClean="0"/>
              <a:t>108</a:t>
            </a:r>
            <a:r>
              <a:rPr lang="ru-RU" sz="7200" dirty="0"/>
              <a:t> 000 000 км (расстояние от </a:t>
            </a:r>
            <a:r>
              <a:rPr lang="ru-RU" sz="7200" dirty="0" smtClean="0"/>
              <a:t>Венеры </a:t>
            </a:r>
            <a:r>
              <a:rPr lang="ru-RU" sz="7200" dirty="0"/>
              <a:t>до Солнца)</a:t>
            </a:r>
          </a:p>
          <a:p>
            <a:r>
              <a:rPr lang="en-US" sz="7200" dirty="0"/>
              <a:t>T</a:t>
            </a:r>
            <a:r>
              <a:rPr lang="ru-RU" sz="7200" dirty="0"/>
              <a:t> = </a:t>
            </a:r>
            <a:r>
              <a:rPr lang="ru-RU" sz="7200" dirty="0" smtClean="0"/>
              <a:t>224.7 </a:t>
            </a:r>
            <a:r>
              <a:rPr lang="ru-RU" sz="7200" dirty="0"/>
              <a:t>дней (период обращения)</a:t>
            </a:r>
          </a:p>
          <a:p>
            <a:r>
              <a:rPr lang="ru-RU" sz="7200" dirty="0" smtClean="0">
                <a:sym typeface="Symbol" panose="05050102010706020507" pitchFamily="18" charset="2"/>
              </a:rPr>
              <a:t></a:t>
            </a:r>
            <a:r>
              <a:rPr lang="ru-RU" sz="7200" dirty="0" smtClean="0"/>
              <a:t> </a:t>
            </a:r>
            <a:r>
              <a:rPr lang="ru-RU" sz="7200" dirty="0"/>
              <a:t>= 0</a:t>
            </a:r>
          </a:p>
          <a:p>
            <a:r>
              <a:rPr lang="en-US" sz="7200" dirty="0"/>
              <a:t>t</a:t>
            </a:r>
            <a:r>
              <a:rPr lang="ru-RU" sz="7200" dirty="0"/>
              <a:t> – берём произвольное значение</a:t>
            </a:r>
          </a:p>
          <a:p>
            <a:r>
              <a:rPr lang="en-US" sz="7200" dirty="0"/>
              <a:t>w</a:t>
            </a:r>
            <a:r>
              <a:rPr lang="ru-RU" sz="7200" dirty="0"/>
              <a:t>1 = </a:t>
            </a:r>
            <a:r>
              <a:rPr lang="ru-RU" sz="7200" dirty="0" smtClean="0"/>
              <a:t>0.0279626 </a:t>
            </a:r>
            <a:r>
              <a:rPr lang="ru-RU" sz="7200" dirty="0"/>
              <a:t>(угловая скорость</a:t>
            </a:r>
            <a:r>
              <a:rPr lang="ru-RU" sz="7200" dirty="0" smtClean="0"/>
              <a:t>)</a:t>
            </a:r>
            <a:endParaRPr lang="en-US" sz="7200" dirty="0" smtClean="0"/>
          </a:p>
          <a:p>
            <a:endParaRPr lang="en-US" sz="7200" dirty="0"/>
          </a:p>
          <a:p>
            <a:endParaRPr lang="en-US" sz="7200" dirty="0" smtClean="0"/>
          </a:p>
          <a:p>
            <a:pPr marL="0" indent="0" algn="ctr">
              <a:buNone/>
            </a:pPr>
            <a:endParaRPr lang="ru-RU" sz="7200" b="1" dirty="0" smtClean="0"/>
          </a:p>
          <a:p>
            <a:pPr marL="0" indent="0" algn="ctr">
              <a:buNone/>
            </a:pPr>
            <a:r>
              <a:rPr lang="ru-RU" sz="7200" b="1" dirty="0" smtClean="0"/>
              <a:t>Марс</a:t>
            </a:r>
            <a:endParaRPr lang="en-US" sz="7200" b="1" dirty="0" smtClean="0"/>
          </a:p>
          <a:p>
            <a:r>
              <a:rPr lang="en-US" sz="7200" dirty="0" smtClean="0"/>
              <a:t>x = r</a:t>
            </a:r>
            <a:r>
              <a:rPr lang="ru-RU" sz="7200" dirty="0" smtClean="0"/>
              <a:t>2</a:t>
            </a:r>
            <a:r>
              <a:rPr lang="en-US" sz="7200" dirty="0" smtClean="0"/>
              <a:t> * cos(w</a:t>
            </a:r>
            <a:r>
              <a:rPr lang="ru-RU" sz="7200" dirty="0" smtClean="0"/>
              <a:t>2</a:t>
            </a:r>
            <a:r>
              <a:rPr lang="en-US" sz="7200" dirty="0" smtClean="0"/>
              <a:t> * t + </a:t>
            </a:r>
            <a:r>
              <a:rPr lang="ru-RU" sz="7200" dirty="0" smtClean="0">
                <a:sym typeface="Symbol" panose="05050102010706020507" pitchFamily="18" charset="2"/>
              </a:rPr>
              <a:t></a:t>
            </a:r>
            <a:r>
              <a:rPr lang="en-US" sz="7200" dirty="0" smtClean="0"/>
              <a:t>)</a:t>
            </a:r>
            <a:r>
              <a:rPr lang="ru-RU" sz="7200" dirty="0" smtClean="0"/>
              <a:t>      </a:t>
            </a:r>
          </a:p>
          <a:p>
            <a:r>
              <a:rPr lang="en-US" sz="7200" dirty="0" smtClean="0"/>
              <a:t>y = r</a:t>
            </a:r>
            <a:r>
              <a:rPr lang="ru-RU" sz="7200" dirty="0" smtClean="0"/>
              <a:t>2</a:t>
            </a:r>
            <a:r>
              <a:rPr lang="en-US" sz="7200" dirty="0" smtClean="0"/>
              <a:t> * sin(w</a:t>
            </a:r>
            <a:r>
              <a:rPr lang="ru-RU" sz="7200" dirty="0" smtClean="0"/>
              <a:t>2</a:t>
            </a:r>
            <a:r>
              <a:rPr lang="en-US" sz="7200" dirty="0" smtClean="0"/>
              <a:t> * t + </a:t>
            </a:r>
            <a:r>
              <a:rPr lang="ru-RU" sz="7200" dirty="0" smtClean="0">
                <a:sym typeface="Symbol" panose="05050102010706020507" pitchFamily="18" charset="2"/>
              </a:rPr>
              <a:t></a:t>
            </a:r>
            <a:r>
              <a:rPr lang="en-US" sz="7200" dirty="0" smtClean="0"/>
              <a:t>)</a:t>
            </a:r>
            <a:endParaRPr lang="ru-RU" sz="7200" dirty="0" smtClean="0"/>
          </a:p>
          <a:p>
            <a:r>
              <a:rPr lang="en-US" sz="7200" dirty="0" smtClean="0"/>
              <a:t>r</a:t>
            </a:r>
            <a:r>
              <a:rPr lang="ru-RU" sz="7200" dirty="0"/>
              <a:t>2</a:t>
            </a:r>
            <a:r>
              <a:rPr lang="ru-RU" sz="7200" dirty="0" smtClean="0"/>
              <a:t> = 228 000 000 км (расстояние от Марса до Солнца)</a:t>
            </a:r>
          </a:p>
          <a:p>
            <a:r>
              <a:rPr lang="en-US" sz="7200" dirty="0" smtClean="0"/>
              <a:t>T</a:t>
            </a:r>
            <a:r>
              <a:rPr lang="ru-RU" sz="7200" dirty="0" smtClean="0"/>
              <a:t> = 687 дней (период обращения)</a:t>
            </a:r>
          </a:p>
          <a:p>
            <a:r>
              <a:rPr lang="ru-RU" sz="7200" dirty="0" smtClean="0">
                <a:sym typeface="Symbol" panose="05050102010706020507" pitchFamily="18" charset="2"/>
              </a:rPr>
              <a:t></a:t>
            </a:r>
            <a:r>
              <a:rPr lang="ru-RU" sz="7200" dirty="0" smtClean="0"/>
              <a:t> = 0</a:t>
            </a:r>
          </a:p>
          <a:p>
            <a:r>
              <a:rPr lang="en-US" sz="7200" dirty="0" smtClean="0"/>
              <a:t>t</a:t>
            </a:r>
            <a:r>
              <a:rPr lang="ru-RU" sz="7200" dirty="0" smtClean="0"/>
              <a:t> – берём произвольное значение</a:t>
            </a:r>
          </a:p>
          <a:p>
            <a:r>
              <a:rPr lang="en-US" sz="7200" dirty="0" smtClean="0"/>
              <a:t>w</a:t>
            </a:r>
            <a:r>
              <a:rPr lang="ru-RU" sz="7200" dirty="0" smtClean="0"/>
              <a:t>1 = 0.00914583 (угловая скорость)</a:t>
            </a:r>
            <a:endParaRPr lang="en-US" sz="7200" dirty="0" smtClean="0"/>
          </a:p>
          <a:p>
            <a:endParaRPr lang="en-US" sz="4500" dirty="0" smtClean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214470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Уравнение движение Венеры относительно Марса</a:t>
            </a:r>
            <a:r>
              <a:rPr lang="en-US" b="1" dirty="0" smtClean="0"/>
              <a:t>:</a:t>
            </a:r>
          </a:p>
          <a:p>
            <a:r>
              <a:rPr lang="en-US" dirty="0"/>
              <a:t>x = r1 * cos(w1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cos(w2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r>
              <a:rPr lang="en-US" dirty="0"/>
              <a:t>  </a:t>
            </a:r>
            <a:endParaRPr lang="ru-RU" dirty="0"/>
          </a:p>
          <a:p>
            <a:r>
              <a:rPr lang="en-US" dirty="0"/>
              <a:t>y = r1 * sin(w1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 </a:t>
            </a:r>
            <a:r>
              <a:rPr lang="en-US" dirty="0"/>
              <a:t>- r2 * sin(w2 * t + </a:t>
            </a:r>
            <a:r>
              <a:rPr lang="ru-RU" dirty="0">
                <a:sym typeface="Symbol" panose="05050102010706020507" pitchFamily="18" charset="2"/>
              </a:rPr>
              <a:t></a:t>
            </a:r>
            <a:r>
              <a:rPr lang="en-US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370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Траектория движения </a:t>
            </a:r>
            <a:r>
              <a:rPr lang="ru-RU" sz="3600" dirty="0" smtClean="0"/>
              <a:t>Венеры </a:t>
            </a:r>
            <a:r>
              <a:rPr lang="ru-RU" sz="3600" dirty="0"/>
              <a:t>относительно </a:t>
            </a:r>
            <a:r>
              <a:rPr lang="ru-RU" sz="3600" dirty="0" smtClean="0"/>
              <a:t>Марса</a:t>
            </a:r>
            <a:endParaRPr lang="ru-RU" sz="36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90688"/>
            <a:ext cx="5486400" cy="45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2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Портфолио студента-исследователя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u="sng" dirty="0">
                <a:hlinkClick r:id="rId2"/>
              </a:rPr>
              <a:t>https://sites.google.com/view/dmitrybaranovivt/%D0%BE%D1%82%D1%87%D1%91%D1%82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6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Благодаря подсчётам и правильно написанному коду мы узнали видимую траекторию </a:t>
            </a:r>
            <a:r>
              <a:rPr lang="ru-RU" dirty="0" smtClean="0"/>
              <a:t>движения всех интересующих нас планет.</a:t>
            </a:r>
          </a:p>
          <a:p>
            <a:r>
              <a:rPr lang="ru-RU" dirty="0" smtClean="0"/>
              <a:t>Зная </a:t>
            </a:r>
            <a:r>
              <a:rPr lang="ru-RU" dirty="0"/>
              <a:t>только расстояние от планеты до Солнца и период обращения планет, </a:t>
            </a:r>
            <a:r>
              <a:rPr lang="ru-RU" dirty="0" smtClean="0"/>
              <a:t>нам удалось </a:t>
            </a:r>
            <a:r>
              <a:rPr lang="ru-RU" dirty="0"/>
              <a:t>воспроизвести их видимые траектории движения.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77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345</Words>
  <Application>Microsoft Office PowerPoint</Application>
  <PresentationFormat>Широкоэкранный</PresentationFormat>
  <Paragraphs>112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Тема Office</vt:lpstr>
      <vt:lpstr>  Лабораторная работа №1 Исследование видимых траекторий движения планет солнечной системы </vt:lpstr>
      <vt:lpstr>Цель и задача</vt:lpstr>
      <vt:lpstr>Движение Марса относительно Земли</vt:lpstr>
      <vt:lpstr>Траектория движения Марса относительно Земли</vt:lpstr>
      <vt:lpstr>Движение Венеры относительно Земли</vt:lpstr>
      <vt:lpstr>Траектория движения Венеры относительно Земли</vt:lpstr>
      <vt:lpstr>Движение Сатурна относительно Земли</vt:lpstr>
      <vt:lpstr>Траектория движения Сатурна относительно Земли</vt:lpstr>
      <vt:lpstr>Движение Венеры относительно Марса</vt:lpstr>
      <vt:lpstr>Траектория движения Венеры относительно Марса</vt:lpstr>
      <vt:lpstr>Портфолио студента-исследователя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Лабораторная работа №1 Исследование видимых траекторий движения планет солнечной системы </dc:title>
  <dc:creator>paniccaaa</dc:creator>
  <cp:lastModifiedBy>paniccaaa</cp:lastModifiedBy>
  <cp:revision>10</cp:revision>
  <dcterms:created xsi:type="dcterms:W3CDTF">2022-09-26T11:57:41Z</dcterms:created>
  <dcterms:modified xsi:type="dcterms:W3CDTF">2022-09-27T16:06:59Z</dcterms:modified>
</cp:coreProperties>
</file>