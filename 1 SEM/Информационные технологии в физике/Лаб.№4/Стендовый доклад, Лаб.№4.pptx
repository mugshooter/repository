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157" y="-3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8D17FF05-169E-4DC1-9005-B201FBF30BAB}"/>
    <pc:docChg chg="undo custSel modSld">
      <pc:chgData name="Artyom" userId="2f0d4a8a008de216" providerId="LiveId" clId="{8D17FF05-169E-4DC1-9005-B201FBF30BAB}" dt="2022-11-30T07:13:21.976" v="70" actId="20577"/>
      <pc:docMkLst>
        <pc:docMk/>
      </pc:docMkLst>
      <pc:sldChg chg="addSp delSp modSp mod">
        <pc:chgData name="Artyom" userId="2f0d4a8a008de216" providerId="LiveId" clId="{8D17FF05-169E-4DC1-9005-B201FBF30BAB}" dt="2022-11-30T07:13:21.976" v="70" actId="20577"/>
        <pc:sldMkLst>
          <pc:docMk/>
          <pc:sldMk cId="2677130267" sldId="256"/>
        </pc:sldMkLst>
        <pc:spChg chg="mod">
          <ac:chgData name="Artyom" userId="2f0d4a8a008de216" providerId="LiveId" clId="{8D17FF05-169E-4DC1-9005-B201FBF30BAB}" dt="2022-11-30T07:10:13.645" v="15" actId="20577"/>
          <ac:spMkLst>
            <pc:docMk/>
            <pc:sldMk cId="2677130267" sldId="256"/>
            <ac:spMk id="18" creationId="{F2261EC1-603C-4FDC-B111-8308B6E30D23}"/>
          </ac:spMkLst>
        </pc:spChg>
        <pc:spChg chg="mod">
          <ac:chgData name="Artyom" userId="2f0d4a8a008de216" providerId="LiveId" clId="{8D17FF05-169E-4DC1-9005-B201FBF30BAB}" dt="2022-11-30T07:11:19.528" v="31" actId="20577"/>
          <ac:spMkLst>
            <pc:docMk/>
            <pc:sldMk cId="2677130267" sldId="256"/>
            <ac:spMk id="21" creationId="{6D044E9A-C597-49C6-9615-AF279FC457FF}"/>
          </ac:spMkLst>
        </pc:spChg>
        <pc:spChg chg="mod">
          <ac:chgData name="Artyom" userId="2f0d4a8a008de216" providerId="LiveId" clId="{8D17FF05-169E-4DC1-9005-B201FBF30BAB}" dt="2022-11-30T07:13:21.976" v="70" actId="20577"/>
          <ac:spMkLst>
            <pc:docMk/>
            <pc:sldMk cId="2677130267" sldId="256"/>
            <ac:spMk id="22" creationId="{A10BB48F-0BCF-49F6-A245-D86018CBCA72}"/>
          </ac:spMkLst>
        </pc:spChg>
        <pc:picChg chg="add del">
          <ac:chgData name="Artyom" userId="2f0d4a8a008de216" providerId="LiveId" clId="{8D17FF05-169E-4DC1-9005-B201FBF30BAB}" dt="2022-11-30T07:09:23.138" v="2" actId="22"/>
          <ac:picMkLst>
            <pc:docMk/>
            <pc:sldMk cId="2677130267" sldId="256"/>
            <ac:picMk id="9" creationId="{396F4FD1-0877-4BD6-BC75-5530980447FA}"/>
          </ac:picMkLst>
        </pc:picChg>
        <pc:picChg chg="del">
          <ac:chgData name="Artyom" userId="2f0d4a8a008de216" providerId="LiveId" clId="{8D17FF05-169E-4DC1-9005-B201FBF30BAB}" dt="2022-11-30T07:09:20.661" v="0" actId="478"/>
          <ac:picMkLst>
            <pc:docMk/>
            <pc:sldMk cId="2677130267" sldId="256"/>
            <ac:picMk id="10" creationId="{7581D087-BDEC-4F9F-9BE5-03BC5B47A79B}"/>
          </ac:picMkLst>
        </pc:picChg>
        <pc:picChg chg="add mod">
          <ac:chgData name="Artyom" userId="2f0d4a8a008de216" providerId="LiveId" clId="{8D17FF05-169E-4DC1-9005-B201FBF30BAB}" dt="2022-11-30T07:10:00.512" v="9" actId="1076"/>
          <ac:picMkLst>
            <pc:docMk/>
            <pc:sldMk cId="2677130267" sldId="256"/>
            <ac:picMk id="13" creationId="{23811F50-CFE7-4529-9F25-C9CEFD164A08}"/>
          </ac:picMkLst>
        </pc:picChg>
        <pc:picChg chg="del">
          <ac:chgData name="Artyom" userId="2f0d4a8a008de216" providerId="LiveId" clId="{8D17FF05-169E-4DC1-9005-B201FBF30BAB}" dt="2022-11-30T07:10:27.618" v="16" actId="478"/>
          <ac:picMkLst>
            <pc:docMk/>
            <pc:sldMk cId="2677130267" sldId="256"/>
            <ac:picMk id="14" creationId="{C50D4F18-DCF8-4048-917F-693014EDB7D1}"/>
          </ac:picMkLst>
        </pc:picChg>
        <pc:picChg chg="add mod">
          <ac:chgData name="Artyom" userId="2f0d4a8a008de216" providerId="LiveId" clId="{8D17FF05-169E-4DC1-9005-B201FBF30BAB}" dt="2022-11-30T07:10:38.128" v="22" actId="1076"/>
          <ac:picMkLst>
            <pc:docMk/>
            <pc:sldMk cId="2677130267" sldId="256"/>
            <ac:picMk id="26" creationId="{62323021-9F2F-4589-93F7-760FEE7579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807F1-D0F3-42D6-8B67-D2FC538298DF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80D5E-D446-4B7B-A802-F8D93C43E9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05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6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5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6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59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65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59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06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802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39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80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41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D47A6-3020-419F-8BF8-97B6ECB4028D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B6505-7C20-4F89-A739-1B70B995F8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03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5FA30-8E5C-402E-A47C-72CE66972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0"/>
            <a:ext cx="5829300" cy="1770609"/>
          </a:xfrm>
        </p:spPr>
        <p:txBody>
          <a:bodyPr>
            <a:normAutofit fontScale="90000"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вычислительный эксперимент «Исследование колебательного контура с источником тока»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Гневнов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Адаменко С.С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Баранов Д.А.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Зотиковна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В.Е.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РГПУ им. А. И. Герцена. Санкт-Петербург.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D6EA70-AF53-4D39-A935-B22369B7E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19" y="1614107"/>
            <a:ext cx="7020560" cy="2836334"/>
          </a:xfrm>
        </p:spPr>
        <p:txBody>
          <a:bodyPr>
            <a:normAutofit/>
          </a:bodyPr>
          <a:lstStyle/>
          <a:p>
            <a:pPr algn="l"/>
            <a:r>
              <a:rPr lang="ru-RU" sz="1600" b="1" dirty="0"/>
              <a:t>Исследование посвящено </a:t>
            </a:r>
            <a:r>
              <a:rPr lang="ru-RU" sz="1600" dirty="0"/>
              <a:t>проведению вычислительного эксперимента по исследованию колебательного контура с источником тока. </a:t>
            </a:r>
            <a:r>
              <a:rPr lang="ru-RU" sz="1600" b="1" dirty="0"/>
              <a:t>Постановка задачи</a:t>
            </a:r>
            <a:r>
              <a:rPr lang="en-US" sz="1600" b="1" dirty="0"/>
              <a:t>: </a:t>
            </a:r>
            <a:r>
              <a:rPr lang="ru-RU" sz="1600" dirty="0"/>
              <a:t>построить график зависимости тока от времени колебательного контура с источником тока.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исследования использовалась вычислительная техника для проведения вычислительных экспериментов.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исследования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графики зависимости.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5023475-84AE-470F-B4F1-5DDFAEB363CC}"/>
              </a:ext>
            </a:extLst>
          </p:cNvPr>
          <p:cNvSpPr txBox="1">
            <a:spLocks/>
          </p:cNvSpPr>
          <p:nvPr/>
        </p:nvSpPr>
        <p:spPr>
          <a:xfrm>
            <a:off x="3606799" y="6002865"/>
            <a:ext cx="3007784" cy="761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ED42EA31-49DF-40A2-9A59-F71EB59546AF}"/>
              </a:ext>
            </a:extLst>
          </p:cNvPr>
          <p:cNvSpPr txBox="1">
            <a:spLocks/>
          </p:cNvSpPr>
          <p:nvPr/>
        </p:nvSpPr>
        <p:spPr>
          <a:xfrm>
            <a:off x="-152398" y="4614333"/>
            <a:ext cx="2345266" cy="1896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7E385-0BB0-435B-AC5B-A11B031F6CC8}"/>
              </a:ext>
            </a:extLst>
          </p:cNvPr>
          <p:cNvSpPr txBox="1"/>
          <p:nvPr/>
        </p:nvSpPr>
        <p:spPr>
          <a:xfrm>
            <a:off x="2895600" y="4495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6495-7221-49BF-88F4-CDF2195742F2}"/>
              </a:ext>
            </a:extLst>
          </p:cNvPr>
          <p:cNvSpPr txBox="1"/>
          <p:nvPr/>
        </p:nvSpPr>
        <p:spPr>
          <a:xfrm>
            <a:off x="4919134" y="7786817"/>
            <a:ext cx="1320799" cy="691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649FEF-FA3E-4A30-BEBD-2170C0B3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40" y="3542576"/>
            <a:ext cx="3197660" cy="16840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81A7CD-90F2-43AD-91B7-DD30BD808F54}"/>
              </a:ext>
            </a:extLst>
          </p:cNvPr>
          <p:cNvSpPr txBox="1"/>
          <p:nvPr/>
        </p:nvSpPr>
        <p:spPr>
          <a:xfrm>
            <a:off x="378223" y="3137754"/>
            <a:ext cx="280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q(t) = Q0 cos (ω0 t + α) + Сε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2668FB-9C3C-4064-B684-F93426988322}"/>
              </a:ext>
            </a:extLst>
          </p:cNvPr>
          <p:cNvSpPr txBox="1"/>
          <p:nvPr/>
        </p:nvSpPr>
        <p:spPr>
          <a:xfrm>
            <a:off x="3429000" y="3177744"/>
            <a:ext cx="353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I(t) = dq / dt = - Q0 ω0 sin (ω0 t + α)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9FCD30-BE84-45F0-A554-3EB935D898C8}"/>
              </a:ext>
            </a:extLst>
          </p:cNvPr>
          <p:cNvSpPr txBox="1"/>
          <p:nvPr/>
        </p:nvSpPr>
        <p:spPr>
          <a:xfrm>
            <a:off x="1357984" y="5756771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U(t) = q / </a:t>
            </a:r>
            <a:r>
              <a:rPr lang="ru-RU" sz="1400" dirty="0"/>
              <a:t>С.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261EC1-603C-4FDC-B111-8308B6E30D23}"/>
              </a:ext>
            </a:extLst>
          </p:cNvPr>
          <p:cNvSpPr txBox="1"/>
          <p:nvPr/>
        </p:nvSpPr>
        <p:spPr>
          <a:xfrm>
            <a:off x="192368" y="5400208"/>
            <a:ext cx="361763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Минимальное значение</a:t>
            </a:r>
            <a:r>
              <a:rPr lang="en-US" sz="1050" dirty="0"/>
              <a:t>:</a:t>
            </a:r>
            <a:r>
              <a:rPr lang="ru-RU" sz="1050" dirty="0"/>
              <a:t> </a:t>
            </a:r>
            <a:r>
              <a:rPr lang="en-US" sz="1050" dirty="0"/>
              <a:t>-0.0</a:t>
            </a:r>
            <a:r>
              <a:rPr lang="ru-RU" sz="1050" dirty="0"/>
              <a:t>05</a:t>
            </a:r>
            <a:endParaRPr lang="en-US" sz="1050" dirty="0"/>
          </a:p>
          <a:p>
            <a:r>
              <a:rPr lang="ru-RU" sz="1050" dirty="0"/>
              <a:t>Максимальное значение</a:t>
            </a:r>
            <a:r>
              <a:rPr lang="en-US" sz="1050" dirty="0"/>
              <a:t>: 0.01</a:t>
            </a:r>
            <a:r>
              <a:rPr lang="ru-RU" sz="1050" dirty="0"/>
              <a:t>5</a:t>
            </a:r>
            <a:br>
              <a:rPr lang="en-US" sz="1050" dirty="0"/>
            </a:br>
            <a:endParaRPr lang="ru-RU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03F8F-BCB2-4E8A-B55A-34641E3295DD}"/>
              </a:ext>
            </a:extLst>
          </p:cNvPr>
          <p:cNvSpPr txBox="1"/>
          <p:nvPr/>
        </p:nvSpPr>
        <p:spPr>
          <a:xfrm>
            <a:off x="3947299" y="5415875"/>
            <a:ext cx="2716001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Минимальное значение</a:t>
            </a:r>
            <a:r>
              <a:rPr lang="en-US" sz="1050" dirty="0"/>
              <a:t>:</a:t>
            </a:r>
            <a:r>
              <a:rPr lang="ru-RU" sz="1050" dirty="0"/>
              <a:t> </a:t>
            </a:r>
            <a:r>
              <a:rPr lang="en-US" sz="1050" dirty="0"/>
              <a:t>-0.10</a:t>
            </a:r>
          </a:p>
          <a:p>
            <a:r>
              <a:rPr lang="ru-RU" sz="1050" dirty="0"/>
              <a:t>Максимальное значение</a:t>
            </a:r>
            <a:r>
              <a:rPr lang="en-US" sz="1050" dirty="0"/>
              <a:t>: </a:t>
            </a:r>
            <a:r>
              <a:rPr lang="ru-RU" sz="1050" dirty="0"/>
              <a:t> </a:t>
            </a:r>
            <a:r>
              <a:rPr lang="en-US" sz="1050" dirty="0"/>
              <a:t>0.10</a:t>
            </a:r>
            <a:br>
              <a:rPr lang="ru-RU" sz="1050" dirty="0"/>
            </a:br>
            <a:endParaRPr lang="ru-RU" sz="1050" dirty="0"/>
          </a:p>
          <a:p>
            <a:endParaRPr lang="ru-RU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44E9A-C597-49C6-9615-AF279FC457FF}"/>
              </a:ext>
            </a:extLst>
          </p:cNvPr>
          <p:cNvSpPr txBox="1"/>
          <p:nvPr/>
        </p:nvSpPr>
        <p:spPr>
          <a:xfrm>
            <a:off x="192368" y="7841770"/>
            <a:ext cx="276822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Минимальное значение</a:t>
            </a:r>
            <a:r>
              <a:rPr lang="en-US" sz="1050" dirty="0"/>
              <a:t>: -</a:t>
            </a:r>
            <a:r>
              <a:rPr lang="ru-RU" sz="1050" dirty="0"/>
              <a:t>9</a:t>
            </a:r>
            <a:r>
              <a:rPr lang="en-US" sz="1050" dirty="0"/>
              <a:t>.</a:t>
            </a:r>
            <a:r>
              <a:rPr lang="ru-RU" sz="1050" dirty="0"/>
              <a:t>7</a:t>
            </a:r>
            <a:endParaRPr lang="en-US" sz="1050" dirty="0"/>
          </a:p>
          <a:p>
            <a:r>
              <a:rPr lang="ru-RU" sz="1050" dirty="0"/>
              <a:t>Максимальное значение</a:t>
            </a:r>
            <a:r>
              <a:rPr lang="en-US" sz="1050" dirty="0"/>
              <a:t>:</a:t>
            </a:r>
            <a:r>
              <a:rPr lang="ru-RU" sz="1050" dirty="0"/>
              <a:t> 24</a:t>
            </a:r>
            <a:r>
              <a:rPr lang="en-US" sz="1050" dirty="0"/>
              <a:t>.6</a:t>
            </a:r>
            <a:br>
              <a:rPr lang="en-US" sz="1050" dirty="0"/>
            </a:br>
            <a:endParaRPr lang="ru-RU" sz="1050" dirty="0"/>
          </a:p>
          <a:p>
            <a:endParaRPr lang="ru-RU" sz="1050" dirty="0"/>
          </a:p>
          <a:p>
            <a:endParaRPr lang="ru-RU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0BB48F-0BCF-49F6-A245-D86018CBCA72}"/>
              </a:ext>
            </a:extLst>
          </p:cNvPr>
          <p:cNvSpPr txBox="1"/>
          <p:nvPr/>
        </p:nvSpPr>
        <p:spPr>
          <a:xfrm>
            <a:off x="146809" y="8291106"/>
            <a:ext cx="409211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Проанализировав полученные зависимости, мы пришли к выводу, что</a:t>
            </a:r>
            <a:r>
              <a:rPr lang="en-US" sz="1050" dirty="0"/>
              <a:t>;</a:t>
            </a:r>
            <a:endParaRPr lang="ru-RU" sz="1050" dirty="0"/>
          </a:p>
          <a:p>
            <a:r>
              <a:rPr lang="ru-RU" sz="1050" dirty="0"/>
              <a:t>1)При q от -0.005 до 0.015 заряд совершает гармонические колебания </a:t>
            </a:r>
          </a:p>
          <a:p>
            <a:r>
              <a:rPr lang="ru-RU" sz="1050" dirty="0"/>
              <a:t>2) В </a:t>
            </a:r>
            <a:r>
              <a:rPr lang="ru-RU" sz="1050" dirty="0" err="1"/>
              <a:t>диапозоне</a:t>
            </a:r>
            <a:r>
              <a:rPr lang="ru-RU" sz="1050" dirty="0"/>
              <a:t> q от 0.01 до -0.01   происходят колебания заряда. Знак заряда пластины конденсатора меняется</a:t>
            </a:r>
          </a:p>
          <a:p>
            <a:r>
              <a:rPr lang="ru-RU" sz="1050" dirty="0"/>
              <a:t>3) Около нулевого значения I происходят колебания тока</a:t>
            </a:r>
          </a:p>
          <a:p>
            <a:r>
              <a:rPr lang="ru-RU" sz="1050" dirty="0"/>
              <a:t>4) Максимальное значения напряжения на  конденсаторе равняется 24.6</a:t>
            </a:r>
          </a:p>
          <a:p>
            <a:endParaRPr lang="ru-RU" sz="10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B32B45F-CA35-4B42-A1D6-25C05E23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94" y="6095881"/>
            <a:ext cx="1938866" cy="193886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11823FC-D130-418E-9A5A-13DC48C1CA15}"/>
              </a:ext>
            </a:extLst>
          </p:cNvPr>
          <p:cNvSpPr txBox="1"/>
          <p:nvPr/>
        </p:nvSpPr>
        <p:spPr>
          <a:xfrm>
            <a:off x="3947299" y="5821394"/>
            <a:ext cx="312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Программный код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E19A7C-A769-48AB-9BF6-FBD106655C67}"/>
              </a:ext>
            </a:extLst>
          </p:cNvPr>
          <p:cNvSpPr txBox="1"/>
          <p:nvPr/>
        </p:nvSpPr>
        <p:spPr>
          <a:xfrm>
            <a:off x="3975752" y="8291106"/>
            <a:ext cx="27354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 ходе исследования использовался язык программирования Python, среда разработки </a:t>
            </a:r>
            <a:r>
              <a:rPr lang="ru-RU" sz="1200" dirty="0" err="1"/>
              <a:t>PyCharm</a:t>
            </a:r>
            <a:r>
              <a:rPr lang="ru-RU" sz="1200" dirty="0"/>
              <a:t> и Visual Studio Code. Подключались модули: </a:t>
            </a:r>
            <a:r>
              <a:rPr lang="ru-RU" sz="1200" dirty="0" err="1"/>
              <a:t>matplotlib.pyplot</a:t>
            </a:r>
            <a:r>
              <a:rPr lang="ru-RU" sz="1200" dirty="0"/>
              <a:t> для создания окна вывода графиков, </a:t>
            </a:r>
            <a:r>
              <a:rPr lang="ru-RU" sz="1200" dirty="0" err="1"/>
              <a:t>numpy</a:t>
            </a:r>
            <a:r>
              <a:rPr lang="ru-RU" sz="1200" dirty="0"/>
              <a:t> для подсчёта тригонометрических функций, </a:t>
            </a:r>
            <a:r>
              <a:rPr lang="ru-RU" sz="1200" dirty="0" err="1"/>
              <a:t>pylab</a:t>
            </a:r>
            <a:endParaRPr lang="ru-RU" sz="12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3811F50-CFE7-4529-9F25-C9CEFD164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78" y="3592435"/>
            <a:ext cx="3167077" cy="167997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2323021-9F2F-4589-93F7-760FEE757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57" y="6058282"/>
            <a:ext cx="3185583" cy="177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302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267</Words>
  <Application>Microsoft Office PowerPoint</Application>
  <PresentationFormat>Лист A4 (210x297 мм)</PresentationFormat>
  <Paragraphs>18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Провести вычислительный эксперимент «Исследование колебательного контура с источником тока» Гневнов А.Е., Адаменко С.С., Баранов Д.А. Зотиковна В.Е. РГПУ им. А. И. Герцена. Санкт-Петербург.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Провести вычислительный эксперимент «Исследование колебательного контура с источником тока» Гневнов А.Е., Адаменко С.С., Баранов Д.А. Зотиковна В.Е. РГПУ им. А. И. Герцена. Санкт-Петербург.</dc:title>
  <dc:creator>Admin1</dc:creator>
  <cp:lastModifiedBy>Artyom</cp:lastModifiedBy>
  <cp:revision>18</cp:revision>
  <dcterms:created xsi:type="dcterms:W3CDTF">2022-11-09T07:20:15Z</dcterms:created>
  <dcterms:modified xsi:type="dcterms:W3CDTF">2022-11-30T07:13:24Z</dcterms:modified>
</cp:coreProperties>
</file>