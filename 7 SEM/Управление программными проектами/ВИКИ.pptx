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sldIdLst>
    <p:sldId id="256" r:id="rId2"/>
    <p:sldId id="257" r:id="rId3"/>
    <p:sldId id="258" r:id="rId4"/>
    <p:sldId id="269" r:id="rId5"/>
    <p:sldId id="266" r:id="rId6"/>
    <p:sldId id="267" r:id="rId7"/>
    <p:sldId id="26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1E10419-E451-4CB8-8951-8EF4749FF6D0}">
          <p14:sldIdLst>
            <p14:sldId id="256"/>
            <p14:sldId id="257"/>
            <p14:sldId id="258"/>
            <p14:sldId id="269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F6B"/>
    <a:srgbClr val="5AC9D4"/>
    <a:srgbClr val="D8D8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7702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829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978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9938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60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4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7722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4390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32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5649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15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1E99FA06-CE10-4044-817C-FEF3D8EBA96A}" type="datetimeFigureOut">
              <a:rPr lang="ru-RU" smtClean="0"/>
              <a:t>25.10.2025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45C3D62-4A57-4B6A-A71D-56F8FE38B38E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97130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F3943-DF09-4C62-B15C-F4CB67F6B9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672" y="1020431"/>
            <a:ext cx="11610363" cy="1475013"/>
          </a:xfrm>
        </p:spPr>
        <p:txBody>
          <a:bodyPr>
            <a:noAutofit/>
          </a:bodyPr>
          <a:lstStyle/>
          <a:p>
            <a:r>
              <a:rPr lang="ru-RU" dirty="0"/>
              <a:t>Яндекс Вики: Знания как актив. База знаний нового поколения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E7B653-936C-4D97-8012-E7C4F445CC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2672" y="2495445"/>
            <a:ext cx="11172068" cy="590321"/>
          </a:xfrm>
        </p:spPr>
        <p:txBody>
          <a:bodyPr>
            <a:normAutofit fontScale="70000" lnSpcReduction="20000"/>
          </a:bodyPr>
          <a:lstStyle/>
          <a:p>
            <a:r>
              <a:rPr lang="ru-RU" sz="2800" dirty="0"/>
              <a:t>Платформа для создания, структурирования и совместного использования корпоративных знаний.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6F60373-8A04-453F-AC0D-71F9C84EF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815" y="4802660"/>
            <a:ext cx="5817925" cy="1346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179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0A9F9-90EB-4F1B-941B-5EB6C2F15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Боль бизнеса: Информационный хаос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34A969-1EBF-4A89-A00D-6C8014D0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28801"/>
            <a:ext cx="11029616" cy="47313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Проблема: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Потеря знаний: Важная информация о </a:t>
            </a:r>
            <a:r>
              <a:rPr lang="ru-RU" sz="2400" dirty="0" err="1"/>
              <a:t>проектах"заперта</a:t>
            </a:r>
            <a:r>
              <a:rPr lang="ru-RU" sz="2400" dirty="0"/>
              <a:t>" в чатах, личных документах или головах сотрудников.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dirty="0"/>
              <a:t>Неэффективность: Долгое время на поиск нужной информации (инструкции, решения, FAQ).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dirty="0" err="1"/>
              <a:t>Онбординг</a:t>
            </a:r>
            <a:r>
              <a:rPr lang="ru-RU" sz="2400" dirty="0"/>
              <a:t>: Сложности с быстрым введением в курс дела новых сотрудников.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400" dirty="0"/>
              <a:t>Разобщенность: Отсутствие единого источника для всех команд.</a:t>
            </a:r>
          </a:p>
          <a:p>
            <a:pPr marL="0" indent="0" algn="ctr">
              <a:buNone/>
            </a:pPr>
            <a:r>
              <a:rPr lang="ru-RU" sz="2400" b="1" dirty="0"/>
              <a:t>Неструктурированные знания = Потерянное время и деньги.</a:t>
            </a:r>
          </a:p>
        </p:txBody>
      </p:sp>
    </p:spTree>
    <p:extLst>
      <p:ext uri="{BB962C8B-B14F-4D97-AF65-F5344CB8AC3E}">
        <p14:creationId xmlns:p14="http://schemas.microsoft.com/office/powerpoint/2010/main" val="25093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0A583-2307-4F61-8F0A-50E1316E7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Яндекс Вики: Единая точка знаний для всей организации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332CD-7CF3-40E8-8171-2A5AD7A97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1828801"/>
            <a:ext cx="11029617" cy="33132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Решение: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Централизованная база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Совместная работа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Мощный поиск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Простота использования</a:t>
            </a:r>
          </a:p>
        </p:txBody>
      </p:sp>
    </p:spTree>
    <p:extLst>
      <p:ext uri="{BB962C8B-B14F-4D97-AF65-F5344CB8AC3E}">
        <p14:creationId xmlns:p14="http://schemas.microsoft.com/office/powerpoint/2010/main" val="4259837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152C1C-F579-480F-AAFC-143437E6D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ru-RU" sz="36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rbel" panose="020B0503020204020204" pitchFamily="34" charset="0"/>
                <a:ea typeface="+mj-ea"/>
                <a:cs typeface="+mj-cs"/>
              </a:rPr>
              <a:t> Функционал, который обеспечивает эффективность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F185B7-8B3A-4822-919C-968BCFA70E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36079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Основные возможности: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Создание и Структура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Совместная работа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Безопасность и Доступ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Интеграция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Поиск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Визуализация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94564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86A13-81ED-4C5E-9EA0-B6B29CB72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Почему Яндекс Вики? Наше уникальное предложение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FE892-1BC5-40D9-B2DA-23B65E57F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008" y="1887523"/>
            <a:ext cx="11157800" cy="3846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Конкуренты: </a:t>
            </a:r>
            <a:r>
              <a:rPr lang="ru-RU" sz="2400" dirty="0" err="1"/>
              <a:t>Confluence</a:t>
            </a:r>
            <a:r>
              <a:rPr lang="ru-RU" sz="2400" dirty="0"/>
              <a:t>, </a:t>
            </a:r>
            <a:r>
              <a:rPr lang="ru-RU" sz="2400" dirty="0" err="1"/>
              <a:t>Notion</a:t>
            </a:r>
            <a:r>
              <a:rPr lang="ru-RU" sz="2400" dirty="0"/>
              <a:t>, </a:t>
            </a:r>
            <a:r>
              <a:rPr lang="ru-RU" sz="2400" dirty="0" err="1"/>
              <a:t>Slab</a:t>
            </a:r>
            <a:r>
              <a:rPr lang="ru-RU" sz="2400" dirty="0"/>
              <a:t>, </a:t>
            </a:r>
            <a:r>
              <a:rPr lang="ru-RU" sz="2400" dirty="0" err="1"/>
              <a:t>MediaWiki</a:t>
            </a:r>
            <a:r>
              <a:rPr lang="ru-RU" sz="2400" dirty="0"/>
              <a:t>, внутренние разработки.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Наше преимущество: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Экосистема Яндекса: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Технологическое лидерство: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Безопасность и Доверие: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/>
              <a:t>Цена/Ценность (Монетизация):</a:t>
            </a:r>
          </a:p>
        </p:txBody>
      </p:sp>
    </p:spTree>
    <p:extLst>
      <p:ext uri="{BB962C8B-B14F-4D97-AF65-F5344CB8AC3E}">
        <p14:creationId xmlns:p14="http://schemas.microsoft.com/office/powerpoint/2010/main" val="1686083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1FE4E-C53C-423A-A9CB-5ADC1F65B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Стратегия захвата рынка и получения дохода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2F899-C518-44C6-9931-456A52A3B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89" y="1874704"/>
            <a:ext cx="11129841" cy="46854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400" dirty="0"/>
              <a:t>Текущая модель: Бесплатно для пользователей Яндекс ID / В составе экосистемы Yandex </a:t>
            </a:r>
            <a:r>
              <a:rPr lang="ru-RU" sz="2400" dirty="0" err="1"/>
              <a:t>Cloud</a:t>
            </a:r>
            <a:r>
              <a:rPr lang="ru-RU" sz="2400" dirty="0"/>
              <a:t>.</a:t>
            </a:r>
          </a:p>
          <a:p>
            <a:pPr marL="0" indent="0">
              <a:buNone/>
            </a:pPr>
            <a:r>
              <a:rPr lang="ru-RU" sz="2400" dirty="0"/>
              <a:t>Предлагаемая Модель Монетизации:</a:t>
            </a:r>
          </a:p>
          <a:p>
            <a:r>
              <a:rPr lang="ru-RU" sz="2400" dirty="0"/>
              <a:t>Модель подписки: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200" dirty="0"/>
              <a:t>Free/Basic: Ограниченное хранилище и функции.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200" dirty="0"/>
              <a:t>Pro: Больше хранилища, расширенные права доступа, приоритетная поддержка.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ru-RU" sz="2200" dirty="0"/>
              <a:t>Enterprise: Неограниченное хранилище, SSO/SAML, SLA, кастомизация. </a:t>
            </a:r>
          </a:p>
          <a:p>
            <a:r>
              <a:rPr lang="ru-RU" sz="2600" dirty="0"/>
              <a:t>Плата за объем: Монетизация через увеличение хранилища (Yandex Object Storage).</a:t>
            </a:r>
          </a:p>
          <a:p>
            <a:r>
              <a:rPr lang="ru-RU" sz="2400" dirty="0"/>
              <a:t>Премиум-Интеграции: Плата за глубокую интеграцию со сторонними корпоративными системами</a:t>
            </a:r>
          </a:p>
        </p:txBody>
      </p:sp>
    </p:spTree>
    <p:extLst>
      <p:ext uri="{BB962C8B-B14F-4D97-AF65-F5344CB8AC3E}">
        <p14:creationId xmlns:p14="http://schemas.microsoft.com/office/powerpoint/2010/main" val="658612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B7F6B-79F1-4EEE-968A-837F9035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dirty="0"/>
              <a:t>Яндекс Вики: Инвестируйте в будущее корпоративных знаний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0EA56-9936-49D1-9594-46A54E1C9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618" y="1988190"/>
            <a:ext cx="11801382" cy="19290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Наше обещание: Сделать неструктурированные знания самым ценным и доступным активом компании.</a:t>
            </a:r>
          </a:p>
        </p:txBody>
      </p:sp>
    </p:spTree>
    <p:extLst>
      <p:ext uri="{BB962C8B-B14F-4D97-AF65-F5344CB8AC3E}">
        <p14:creationId xmlns:p14="http://schemas.microsoft.com/office/powerpoint/2010/main" val="16979564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Custom 1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5AC9D4"/>
      </a:accent1>
      <a:accent2>
        <a:srgbClr val="1D3F6B"/>
      </a:accent2>
      <a:accent3>
        <a:srgbClr val="D8D8D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498</TotalTime>
  <Words>276</Words>
  <Application>Microsoft Office PowerPoint</Application>
  <PresentationFormat>Широкоэкранный</PresentationFormat>
  <Paragraphs>41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Corbel</vt:lpstr>
      <vt:lpstr>Gill Sans MT</vt:lpstr>
      <vt:lpstr>Wingdings 2</vt:lpstr>
      <vt:lpstr>Dividend</vt:lpstr>
      <vt:lpstr>Яндекс Вики: Знания как актив. База знаний нового поколения</vt:lpstr>
      <vt:lpstr>Боль бизнеса: Информационный хаос</vt:lpstr>
      <vt:lpstr>Яндекс Вики: Единая точка знаний для всей организации</vt:lpstr>
      <vt:lpstr> Функционал, который обеспечивает эффективность</vt:lpstr>
      <vt:lpstr>Почему Яндекс Вики? Наше уникальное предложение</vt:lpstr>
      <vt:lpstr>Стратегия захвата рынка и получения дохода</vt:lpstr>
      <vt:lpstr>Яндекс Вики: Инвестируйте в будущее корпоративных знаний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Информационная система ветклиники (управления продажами и закупками товаров)</dc:title>
  <dc:creator>Алексей Жуйков</dc:creator>
  <cp:lastModifiedBy>Artyom Gnevnov</cp:lastModifiedBy>
  <cp:revision>27</cp:revision>
  <dcterms:created xsi:type="dcterms:W3CDTF">2025-09-16T20:37:05Z</dcterms:created>
  <dcterms:modified xsi:type="dcterms:W3CDTF">2025-10-25T08:31:03Z</dcterms:modified>
</cp:coreProperties>
</file>