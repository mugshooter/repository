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6b22b12e3_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6b22b12e3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6b22b12e3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6b22b12e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6b22b12e3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6b22b12e3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6b22b12e3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6b22b12e3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6b22b12e3_1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6b22b12e3_1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c6b22b12e3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c6b22b12e3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6b22b12e3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c6b22b12e3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6b22b12e3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6b22b12e3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6b22b12e3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6b22b12e3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6b22b12e3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6b22b12e3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6b22b12e3_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6b22b12e3_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6b22b12e3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6b22b12e3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c6b22b12e3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c6b22b12e3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6b22b12e3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6b22b12e3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6b22b12e3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c6b22b12e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6ec975164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c6ec97516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gif"/><Relationship Id="rId4" Type="http://schemas.openxmlformats.org/officeDocument/2006/relationships/image" Target="../media/image4.gif"/><Relationship Id="rId5" Type="http://schemas.openxmlformats.org/officeDocument/2006/relationships/image" Target="../media/image23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gif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gif"/><Relationship Id="rId4" Type="http://schemas.openxmlformats.org/officeDocument/2006/relationships/image" Target="../media/image20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gif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gif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gif"/><Relationship Id="rId4" Type="http://schemas.openxmlformats.org/officeDocument/2006/relationships/image" Target="../media/image10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gif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gif"/><Relationship Id="rId4" Type="http://schemas.openxmlformats.org/officeDocument/2006/relationships/image" Target="../media/image13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gif"/><Relationship Id="rId4" Type="http://schemas.openxmlformats.org/officeDocument/2006/relationships/image" Target="../media/image7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gif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gif"/><Relationship Id="rId4" Type="http://schemas.openxmlformats.org/officeDocument/2006/relationships/image" Target="../media/image7.png"/><Relationship Id="rId5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gif"/><Relationship Id="rId4" Type="http://schemas.openxmlformats.org/officeDocument/2006/relationships/image" Target="../media/image22.png"/><Relationship Id="rId5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gif"/><Relationship Id="rId4" Type="http://schemas.openxmlformats.org/officeDocument/2006/relationships/image" Target="../media/image15.png"/><Relationship Id="rId5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gif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gif"/><Relationship Id="rId4" Type="http://schemas.openxmlformats.org/officeDocument/2006/relationships/image" Target="../media/image7.png"/><Relationship Id="rId5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studfile.net/preview/21450628/page:31/" TargetMode="External"/><Relationship Id="rId4" Type="http://schemas.openxmlformats.org/officeDocument/2006/relationships/hyperlink" Target="https://study.tinpul.ru/kitajskij-metod-umnozheniya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Relationship Id="rId4" Type="http://schemas.openxmlformats.org/officeDocument/2006/relationships/image" Target="../media/image17.gif"/><Relationship Id="rId5" Type="http://schemas.openxmlformats.org/officeDocument/2006/relationships/image" Target="../media/image11.jpg"/><Relationship Id="rId6" Type="http://schemas.openxmlformats.org/officeDocument/2006/relationships/image" Target="../media/image25.gif"/><Relationship Id="rId7" Type="http://schemas.openxmlformats.org/officeDocument/2006/relationships/image" Target="../media/image24.gif"/><Relationship Id="rId8" Type="http://schemas.openxmlformats.org/officeDocument/2006/relationships/image" Target="../media/image1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623408" y="-92325"/>
            <a:ext cx="8520600" cy="2052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Пранаука. Китай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6822000" y="3020650"/>
            <a:ext cx="2221500" cy="12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ru" sz="1822"/>
              <a:t>Выполнили:</a:t>
            </a:r>
            <a:endParaRPr sz="182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ru" sz="1822"/>
              <a:t>Гневнов Артем да</a:t>
            </a:r>
            <a:br>
              <a:rPr lang="ru" sz="1822"/>
            </a:br>
            <a:r>
              <a:rPr lang="ru" sz="1822"/>
              <a:t>Пальчук Герман</a:t>
            </a:r>
            <a:endParaRPr sz="1822"/>
          </a:p>
        </p:txBody>
      </p:sp>
      <p:pic>
        <p:nvPicPr>
          <p:cNvPr id="56" name="Google Shape;56;p13" title="china-bandera-6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0300" y="-12"/>
            <a:ext cx="1293700" cy="12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 rotWithShape="1">
          <a:blip r:embed="rId5">
            <a:alphaModFix/>
          </a:blip>
          <a:srcRect b="0" l="0" r="27415" t="0"/>
          <a:stretch/>
        </p:blipFill>
        <p:spPr>
          <a:xfrm>
            <a:off x="330975" y="3660800"/>
            <a:ext cx="692124" cy="96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9550" y="3773734"/>
            <a:ext cx="692124" cy="861818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74950" y="4074425"/>
            <a:ext cx="1069049" cy="1069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ru"/>
              <a:t>Введение: Китай и пранаука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520"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4366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Китайская цивилизация сформировалась в долине рек Янцы и Хуанхэ в начале II тысячелетия до н. э. Уже в эпоху Шан-Инь (XVII–XI вв. до н. э.) люди создавали первые письменные источники знаний — надписи на гадательных костях и лунный календарь, который используется с небольшими изменениями до наших дней.</a:t>
            </a:r>
            <a:endParaRPr/>
          </a:p>
        </p:txBody>
      </p:sp>
      <p:pic>
        <p:nvPicPr>
          <p:cNvPr id="66" name="Google Shape;66;p14" title="china-bandera-6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0300" y="-12"/>
            <a:ext cx="1293700" cy="12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4950" y="4074425"/>
            <a:ext cx="1069049" cy="1069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0575" y="1152475"/>
            <a:ext cx="2149299" cy="3820977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8535125" y="3612725"/>
            <a:ext cx="52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2</a:t>
            </a:r>
            <a:endParaRPr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Эпоха Шан и государство Инь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152475"/>
            <a:ext cx="4360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Иньцы обладали профессиональной армией с бронзовым оружием, луками, копьями и боевыми колесницами. Их государство просуществовало до XI века до н. э., когда его завоевали кочевники во главе с Чжоу У-ваном. Несмотря на завоевание, культура Инь оказала огромное влияние на Чжоу.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6" name="Google Shape;76;p15" title="china-bandera-6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0300" y="-12"/>
            <a:ext cx="1293700" cy="12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30425" y="1562702"/>
            <a:ext cx="1031896" cy="1293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4900" y="1446087"/>
            <a:ext cx="3713907" cy="24759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19984" y="1403950"/>
            <a:ext cx="2421524" cy="26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74950" y="4074425"/>
            <a:ext cx="1069049" cy="106907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8535125" y="3612725"/>
            <a:ext cx="52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3</a:t>
            </a:r>
            <a:endParaRPr sz="2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Расцвет науки в Чжоу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437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 царстве Чжоу возник период интенсивного развития знаний. Появились первые учебники и календари, математика и астрономия достигли высокого уровня, а чиновники должны были изучать математику в течение семи лет для сдачи экзаменов.</a:t>
            </a:r>
            <a:endParaRPr/>
          </a:p>
        </p:txBody>
      </p:sp>
      <p:pic>
        <p:nvPicPr>
          <p:cNvPr id="88" name="Google Shape;88;p16" title="china-bandera-6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0300" y="-12"/>
            <a:ext cx="1293700" cy="12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5775" y="1152475"/>
            <a:ext cx="1686550" cy="37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74950" y="4074425"/>
            <a:ext cx="1069049" cy="1069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6"/>
          <p:cNvSpPr txBox="1"/>
          <p:nvPr/>
        </p:nvSpPr>
        <p:spPr>
          <a:xfrm>
            <a:off x="8535125" y="3612725"/>
            <a:ext cx="52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4</a:t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Пранаука в Древнем Китае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311700" y="1111000"/>
            <a:ext cx="4360800" cy="36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Знания носили практический характер и передавались через правила и рецепты. Их хранили жрецы и служители культов. Наука ещё не была самостоятельной дисциплиной и тесно переплеталась с мифологией, религией и ритуалами.</a:t>
            </a:r>
            <a:endParaRPr/>
          </a:p>
        </p:txBody>
      </p:sp>
      <p:pic>
        <p:nvPicPr>
          <p:cNvPr id="98" name="Google Shape;98;p17" title="china-bandera-6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0300" y="-12"/>
            <a:ext cx="1293700" cy="12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4950" y="4074425"/>
            <a:ext cx="1069049" cy="106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7"/>
          <p:cNvSpPr txBox="1"/>
          <p:nvPr/>
        </p:nvSpPr>
        <p:spPr>
          <a:xfrm>
            <a:off x="8535125" y="3612725"/>
            <a:ext cx="52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5</a:t>
            </a:r>
            <a:endParaRPr sz="2100"/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73700" y="1333787"/>
            <a:ext cx="3301250" cy="24759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Гадальные кости в древнем Китае</a:t>
            </a:r>
            <a:endParaRPr/>
          </a:p>
        </p:txBody>
      </p:sp>
      <p:sp>
        <p:nvSpPr>
          <p:cNvPr id="107" name="Google Shape;107;p18"/>
          <p:cNvSpPr txBox="1"/>
          <p:nvPr>
            <p:ph idx="1" type="body"/>
          </p:nvPr>
        </p:nvSpPr>
        <p:spPr>
          <a:xfrm>
            <a:off x="311700" y="1281025"/>
            <a:ext cx="4371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Гадальные кости — характерный памятник культуры государства Шан (XIV–XI вв. до н. э.). Для гаданий использовались кости животных и черепашьи панцири. Эти ритуалы проводились жрецами и имели важное значение для принятия государственных решений.</a:t>
            </a:r>
            <a:endParaRPr/>
          </a:p>
        </p:txBody>
      </p:sp>
      <p:pic>
        <p:nvPicPr>
          <p:cNvPr id="108" name="Google Shape;108;p18" title="china-bandera-6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0300" y="-12"/>
            <a:ext cx="1293700" cy="12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5700" y="1446087"/>
            <a:ext cx="3112143" cy="1947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74950" y="4074425"/>
            <a:ext cx="1069049" cy="106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8"/>
          <p:cNvSpPr txBox="1"/>
          <p:nvPr/>
        </p:nvSpPr>
        <p:spPr>
          <a:xfrm>
            <a:off x="8535125" y="3612725"/>
            <a:ext cx="52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6</a:t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Процесс гадания</a:t>
            </a:r>
            <a:endParaRPr/>
          </a:p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311700" y="1073700"/>
            <a:ext cx="4360800" cy="355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Гадание происходило в присутствии правителя. Кости и панцири нагревали на огне, в результате чего на их поверхности появлялись трещины. По форме и направлению трещин жрецы делали предсказания о войнах, урожае, здоровье правителя и других значимых событиях. Такой способ гадания назывался пластромантией.</a:t>
            </a:r>
            <a:endParaRPr/>
          </a:p>
        </p:txBody>
      </p:sp>
      <p:pic>
        <p:nvPicPr>
          <p:cNvPr id="118" name="Google Shape;118;p19" title="china-bandera-6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0300" y="-12"/>
            <a:ext cx="1293700" cy="12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4950" y="4074425"/>
            <a:ext cx="1069049" cy="106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9"/>
          <p:cNvSpPr txBox="1"/>
          <p:nvPr/>
        </p:nvSpPr>
        <p:spPr>
          <a:xfrm>
            <a:off x="8535125" y="3612725"/>
            <a:ext cx="52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7</a:t>
            </a:r>
            <a:endParaRPr sz="2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Историческое значение</a:t>
            </a:r>
            <a:endParaRPr/>
          </a:p>
        </p:txBody>
      </p:sp>
      <p:sp>
        <p:nvSpPr>
          <p:cNvPr id="126" name="Google Shape;126;p20"/>
          <p:cNvSpPr txBox="1"/>
          <p:nvPr>
            <p:ph idx="1" type="body"/>
          </p:nvPr>
        </p:nvSpPr>
        <p:spPr>
          <a:xfrm>
            <a:off x="311700" y="1139175"/>
            <a:ext cx="4360800" cy="34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Результаты гаданий записывались на костях в виде иероглифов цзягувэнь, которые считаются древнейшей формой китайской письменности. Эти надписи стали важным историческим источником: археологические находки, особенно в районе Аньян, позволили восстановить историю и родословную правителей династии Шан и подтвердить достоверность древних хроник.</a:t>
            </a:r>
            <a:endParaRPr/>
          </a:p>
        </p:txBody>
      </p:sp>
      <p:pic>
        <p:nvPicPr>
          <p:cNvPr id="127" name="Google Shape;127;p20" title="china-bandera-6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0300" y="-12"/>
            <a:ext cx="1293700" cy="12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0675" y="1139175"/>
            <a:ext cx="2879725" cy="387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74950" y="4074425"/>
            <a:ext cx="1069049" cy="106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0"/>
          <p:cNvSpPr txBox="1"/>
          <p:nvPr/>
        </p:nvSpPr>
        <p:spPr>
          <a:xfrm>
            <a:off x="8535125" y="3612725"/>
            <a:ext cx="52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8</a:t>
            </a:r>
            <a:endParaRPr sz="2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Зарождение китайской математики</a:t>
            </a:r>
            <a:endParaRPr/>
          </a:p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311700" y="1193750"/>
            <a:ext cx="4360800" cy="3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Первые письменные свидетельства китайской математики относятся к эпохе Шан (XVIII–XII вв. до н. э.). Уже на гадальных костях XIV века до н. э. встречаются обозначения чисел. После смены династии Шан династией Чжоу начинается активное развитие математики и астрономии, появляются первые календари и учебники. Ранние труды не сохранились из-за «истребления книг» при императоре Цинь Ши Хуанди, но именно они стали основой последующих математических сочинений.</a:t>
            </a:r>
            <a:endParaRPr/>
          </a:p>
        </p:txBody>
      </p:sp>
      <p:pic>
        <p:nvPicPr>
          <p:cNvPr id="137" name="Google Shape;137;p21" title="china-bandera-6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0300" y="-12"/>
            <a:ext cx="1293700" cy="12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4950" y="4074425"/>
            <a:ext cx="1069049" cy="106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1"/>
          <p:cNvSpPr txBox="1"/>
          <p:nvPr/>
        </p:nvSpPr>
        <p:spPr>
          <a:xfrm>
            <a:off x="8535125" y="3612725"/>
            <a:ext cx="52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9</a:t>
            </a:r>
            <a:endParaRPr sz="2100"/>
          </a:p>
        </p:txBody>
      </p:sp>
      <p:pic>
        <p:nvPicPr>
          <p:cNvPr id="140" name="Google Shape;140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90000" y="1293687"/>
            <a:ext cx="3097651" cy="3097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Основные труды и характер знаний</a:t>
            </a:r>
            <a:endParaRPr/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311700" y="1215575"/>
            <a:ext cx="4360800" cy="38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При династии Хань (II в. до н. э. — III в. н. э.) древние знания были восстановлены и систематизированы. К этому времени относятся «Трактат об измерительном шесте» и фундаментальный труд «Математика в девяти книгах». Последний представлял собой сборник практических задач для землемеров, чиновников и торговцев. Знание носило рецептурный характер: формулировалась задача, давался ответ и кратко описывался способ решения, без теоретических доказательств.</a:t>
            </a:r>
            <a:endParaRPr/>
          </a:p>
        </p:txBody>
      </p:sp>
      <p:pic>
        <p:nvPicPr>
          <p:cNvPr id="147" name="Google Shape;147;p22" title="china-bandera-6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0300" y="-12"/>
            <a:ext cx="1293700" cy="12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4950" y="4074425"/>
            <a:ext cx="1069049" cy="106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 txBox="1"/>
          <p:nvPr/>
        </p:nvSpPr>
        <p:spPr>
          <a:xfrm>
            <a:off x="8535125" y="3612725"/>
            <a:ext cx="52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10</a:t>
            </a:r>
            <a:endParaRPr sz="2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Уровень развития математики</a:t>
            </a:r>
            <a:endParaRPr/>
          </a:p>
        </p:txBody>
      </p:sp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311700" y="1128275"/>
            <a:ext cx="4360800" cy="37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 Древнем Китае были известны все основные арифметические действия, работа с дробями и пропорциями, отрицательные числа и решение квадратных уравнений. Китайские математики умели решать системы линейных уравнений и численно находить корни многочленов. В геометрии использовались формулы площадей и объёмов, была известна теорема Пифагора. В I–V вв. н. э. были получены точные приближения числа π. Высокий престиж математики </a:t>
            </a:r>
            <a:r>
              <a:rPr lang="ru">
                <a:solidFill>
                  <a:schemeClr val="dk1"/>
                </a:solidFill>
              </a:rPr>
              <a:t>подчеркивался</a:t>
            </a:r>
            <a:r>
              <a:rPr lang="ru">
                <a:solidFill>
                  <a:schemeClr val="dk1"/>
                </a:solidFill>
              </a:rPr>
              <a:t> тем, что чиновники обязаны были сдавать экзамены по математике.</a:t>
            </a:r>
            <a:endParaRPr/>
          </a:p>
        </p:txBody>
      </p:sp>
      <p:pic>
        <p:nvPicPr>
          <p:cNvPr id="156" name="Google Shape;156;p23" title="china-bandera-6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0300" y="-12"/>
            <a:ext cx="1293700" cy="12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4950" y="4074425"/>
            <a:ext cx="1069049" cy="106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3"/>
          <p:cNvSpPr txBox="1"/>
          <p:nvPr/>
        </p:nvSpPr>
        <p:spPr>
          <a:xfrm>
            <a:off x="8535125" y="3612725"/>
            <a:ext cx="52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11</a:t>
            </a:r>
            <a:endParaRPr sz="2100"/>
          </a:p>
        </p:txBody>
      </p:sp>
      <p:pic>
        <p:nvPicPr>
          <p:cNvPr id="159" name="Google Shape;15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0025" y="1538962"/>
            <a:ext cx="3580867" cy="2014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Счётные палочки</a:t>
            </a:r>
            <a:endParaRPr/>
          </a:p>
        </p:txBody>
      </p:sp>
      <p:sp>
        <p:nvSpPr>
          <p:cNvPr id="165" name="Google Shape;165;p24"/>
          <p:cNvSpPr txBox="1"/>
          <p:nvPr>
            <p:ph idx="1" type="body"/>
          </p:nvPr>
        </p:nvSpPr>
        <p:spPr>
          <a:xfrm>
            <a:off x="311700" y="1171925"/>
            <a:ext cx="4371600" cy="33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 Древнем Китае для вычислений широко использовались счётные палочки. О таком способе счёта упоминал философ Мэн-цзы (IV в. до н. э.). Палочки раскладывали на поверхности, обозначая числа и выполняя арифметические операции. После введения отрицательных чисел стали применять палочки разных видов, что позволяло наглядно различать положительные и отрицательные значения.</a:t>
            </a:r>
            <a:endParaRPr/>
          </a:p>
        </p:txBody>
      </p:sp>
      <p:pic>
        <p:nvPicPr>
          <p:cNvPr id="166" name="Google Shape;166;p24" title="china-bandera-6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0300" y="-12"/>
            <a:ext cx="1293700" cy="12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81487" y="1017726"/>
            <a:ext cx="2995276" cy="3941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74950" y="4074425"/>
            <a:ext cx="1069049" cy="106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4"/>
          <p:cNvSpPr txBox="1"/>
          <p:nvPr/>
        </p:nvSpPr>
        <p:spPr>
          <a:xfrm>
            <a:off x="8535125" y="3612725"/>
            <a:ext cx="52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12</a:t>
            </a:r>
            <a:endParaRPr sz="2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Суаньпань: история и значение</a:t>
            </a:r>
            <a:endParaRPr/>
          </a:p>
        </p:txBody>
      </p:sp>
      <p:sp>
        <p:nvSpPr>
          <p:cNvPr id="175" name="Google Shape;175;p25"/>
          <p:cNvSpPr txBox="1"/>
          <p:nvPr>
            <p:ph idx="1" type="body"/>
          </p:nvPr>
        </p:nvSpPr>
        <p:spPr>
          <a:xfrm>
            <a:off x="311700" y="1152475"/>
            <a:ext cx="4360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Суаньпань — традиционная китайская счётная доска. Впервые он упоминается в труде «Шушу цзии» Сюй Юэ в 190 г. н. э. Современный вид суаньпаня сформировался позднее, предположительно в XII веке. Изображение этого прибора встречается в иллюстрированном китайском букваре 1371 года. Суаньпань широко применялся в торговле, управлении и обучении и стал важным инструментом практической математики.</a:t>
            </a:r>
            <a:endParaRPr/>
          </a:p>
        </p:txBody>
      </p:sp>
      <p:pic>
        <p:nvPicPr>
          <p:cNvPr id="176" name="Google Shape;176;p25" title="china-bandera-6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0300" y="-12"/>
            <a:ext cx="1293700" cy="12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4100" y="1374600"/>
            <a:ext cx="2568906" cy="2568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74950" y="4074425"/>
            <a:ext cx="1069049" cy="106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5"/>
          <p:cNvSpPr txBox="1"/>
          <p:nvPr/>
        </p:nvSpPr>
        <p:spPr>
          <a:xfrm>
            <a:off x="8535125" y="3612725"/>
            <a:ext cx="52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13</a:t>
            </a:r>
            <a:endParaRPr sz="2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Устройство и возможности суаньпаня</a:t>
            </a:r>
            <a:endParaRPr/>
          </a:p>
        </p:txBody>
      </p:sp>
      <p:sp>
        <p:nvSpPr>
          <p:cNvPr id="185" name="Google Shape;185;p26"/>
          <p:cNvSpPr txBox="1"/>
          <p:nvPr>
            <p:ph idx="1" type="body"/>
          </p:nvPr>
        </p:nvSpPr>
        <p:spPr>
          <a:xfrm>
            <a:off x="311700" y="1152475"/>
            <a:ext cx="437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Суаньпань представляет собой прямоугольную раму с проволоками или верёвками, каждая из которых соответствует десятичному разряду. Рама разделена на две части: верхнюю — «небо» с двумя косточками и нижнюю — «землю» с пятью косточками. Такая конструкция позволяла выполнять все основные арифметические операции, а также извлекать квадратные и кубические корни. Работа с суаньпанем требовала навыка и демонстрирует высокий уровень развития прикладной математики в Китае.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6" name="Google Shape;186;p26" title="china-bandera-6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4900" y="-12"/>
            <a:ext cx="1293700" cy="12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4950" y="4074425"/>
            <a:ext cx="1069049" cy="106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6"/>
          <p:cNvSpPr txBox="1"/>
          <p:nvPr/>
        </p:nvSpPr>
        <p:spPr>
          <a:xfrm>
            <a:off x="8535125" y="3612725"/>
            <a:ext cx="52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14</a:t>
            </a:r>
            <a:endParaRPr sz="2100"/>
          </a:p>
        </p:txBody>
      </p:sp>
      <p:pic>
        <p:nvPicPr>
          <p:cNvPr id="189" name="Google Shape;18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3425" y="1881188"/>
            <a:ext cx="2352675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Итоги</a:t>
            </a:r>
            <a:endParaRPr/>
          </a:p>
        </p:txBody>
      </p:sp>
      <p:sp>
        <p:nvSpPr>
          <p:cNvPr id="195" name="Google Shape;195;p27"/>
          <p:cNvSpPr txBox="1"/>
          <p:nvPr>
            <p:ph idx="1" type="body"/>
          </p:nvPr>
        </p:nvSpPr>
        <p:spPr>
          <a:xfrm>
            <a:off x="311700" y="1152475"/>
            <a:ext cx="63459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</a:rPr>
              <a:t>Двухсотлетней эпохе Воюющих Царств положил конец император Цинь Ши Хуанди. К 221 г. до н. э. он установил единоличное господство и вошёл в историю как правитель первого централизованного китайского государства. Основанная им династия Цинь, планировавшая править Китаем на протяжении 10 тысяч поколений, была свергнута через несколько лет после его смерти.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</a:rPr>
              <a:t>В 213 г. до н.э. Цинь Ши Хуанди приказал сжечь все книги за исключением тех, что трактовали о сельском хозяйстве, медицине и гаданиях, также не были сожжены книги из императорского собрания и хроники циньских правителей.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</a:rPr>
              <a:t>После его смерти в 210 г. до н.э. философские и математические трактаты стали восстанавливаться.</a:t>
            </a:r>
            <a:endParaRPr sz="1500"/>
          </a:p>
        </p:txBody>
      </p:sp>
      <p:pic>
        <p:nvPicPr>
          <p:cNvPr id="196" name="Google Shape;196;p27" title="china-bandera-6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0300" y="-12"/>
            <a:ext cx="1293700" cy="129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74950" y="4074425"/>
            <a:ext cx="1069049" cy="1069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7"/>
          <p:cNvSpPr txBox="1"/>
          <p:nvPr/>
        </p:nvSpPr>
        <p:spPr>
          <a:xfrm>
            <a:off x="8535125" y="3612725"/>
            <a:ext cx="523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15</a:t>
            </a:r>
            <a:endParaRPr sz="2100"/>
          </a:p>
        </p:txBody>
      </p:sp>
      <p:pic>
        <p:nvPicPr>
          <p:cNvPr id="199" name="Google Shape;199;p27"/>
          <p:cNvPicPr preferRelativeResize="0"/>
          <p:nvPr/>
        </p:nvPicPr>
        <p:blipFill rotWithShape="1">
          <a:blip r:embed="rId5">
            <a:alphaModFix/>
          </a:blip>
          <a:srcRect b="0" l="0" r="8332" t="0"/>
          <a:stretch/>
        </p:blipFill>
        <p:spPr>
          <a:xfrm>
            <a:off x="6910800" y="1377738"/>
            <a:ext cx="1921500" cy="233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ru" sz="2820"/>
              <a:t>Список источников</a:t>
            </a:r>
            <a:endParaRPr sz="2820"/>
          </a:p>
        </p:txBody>
      </p:sp>
      <p:sp>
        <p:nvSpPr>
          <p:cNvPr id="205" name="Google Shape;205;p28"/>
          <p:cNvSpPr txBox="1"/>
          <p:nvPr>
            <p:ph idx="1" type="body"/>
          </p:nvPr>
        </p:nvSpPr>
        <p:spPr>
          <a:xfrm>
            <a:off x="311700" y="1152475"/>
            <a:ext cx="5866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https://studfile.net/preview/21450628/page:31/</a:t>
            </a:r>
            <a:r>
              <a:rPr lang="ru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 u="sng">
                <a:solidFill>
                  <a:srgbClr val="1155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https://study.tinpul.ru/kitajskij-metod-umnozheniya/</a:t>
            </a:r>
            <a:r>
              <a:rPr lang="ru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206" name="Google Shape;206;p28"/>
          <p:cNvSpPr txBox="1"/>
          <p:nvPr/>
        </p:nvSpPr>
        <p:spPr>
          <a:xfrm>
            <a:off x="8535125" y="3612725"/>
            <a:ext cx="523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ВНИМАНИЕ!</a:t>
            </a:r>
            <a:endParaRPr/>
          </a:p>
        </p:txBody>
      </p:sp>
      <p:pic>
        <p:nvPicPr>
          <p:cNvPr id="212" name="Google Shape;21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2196500" cy="219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9" title="няняня.gi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5325" y="3339500"/>
            <a:ext cx="2410475" cy="11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9" title="сигма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35805" y="1017730"/>
            <a:ext cx="2196500" cy="2521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9" title="флаг.gi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08200" y="1017725"/>
            <a:ext cx="4127600" cy="2321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9" title="хлопает.gi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1700" y="3214225"/>
            <a:ext cx="2196500" cy="1905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9" title="поклон.gi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062328" y="1123488"/>
            <a:ext cx="1205325" cy="211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9" title="поклон.gi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563927" y="4613509"/>
            <a:ext cx="289100" cy="50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9" title="поклон.gi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776652" y="4613509"/>
            <a:ext cx="289100" cy="50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9" title="поклон.gi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003527" y="4613509"/>
            <a:ext cx="289100" cy="50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9" title="поклон.gi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188102" y="4613509"/>
            <a:ext cx="289100" cy="50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9" title="поклон.gi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400827" y="4613509"/>
            <a:ext cx="289100" cy="50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9" title="поклон.gi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27702" y="4613509"/>
            <a:ext cx="289100" cy="50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9" title="поклон.gi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43302" y="4613509"/>
            <a:ext cx="289100" cy="50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9" title="поклон.gi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56027" y="4613509"/>
            <a:ext cx="289100" cy="50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9" title="поклон.gi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282902" y="4613509"/>
            <a:ext cx="289100" cy="50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9" title="поклон.gi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484352" y="4613509"/>
            <a:ext cx="289100" cy="50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9" title="поклон.gi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97077" y="4613509"/>
            <a:ext cx="289100" cy="50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9" title="поклон.gif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23952" y="4613509"/>
            <a:ext cx="289100" cy="5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