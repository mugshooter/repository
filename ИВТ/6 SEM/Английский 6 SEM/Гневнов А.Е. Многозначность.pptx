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65889793-96AE-4A5D-B128-33EB4169B54F}"/>
    <pc:docChg chg="undo redo custSel addSld modSld">
      <pc:chgData name="Artyom Gnevnov" userId="2f0d4a8a008de216" providerId="LiveId" clId="{65889793-96AE-4A5D-B128-33EB4169B54F}" dt="2025-03-28T09:34:49.854" v="293" actId="1076"/>
      <pc:docMkLst>
        <pc:docMk/>
      </pc:docMkLst>
      <pc:sldChg chg="modSp new mod">
        <pc:chgData name="Artyom Gnevnov" userId="2f0d4a8a008de216" providerId="LiveId" clId="{65889793-96AE-4A5D-B128-33EB4169B54F}" dt="2025-03-28T09:31:12.271" v="208"/>
        <pc:sldMkLst>
          <pc:docMk/>
          <pc:sldMk cId="4283513346" sldId="256"/>
        </pc:sldMkLst>
        <pc:spChg chg="mod">
          <ac:chgData name="Artyom Gnevnov" userId="2f0d4a8a008de216" providerId="LiveId" clId="{65889793-96AE-4A5D-B128-33EB4169B54F}" dt="2025-03-28T09:31:12.271" v="208"/>
          <ac:spMkLst>
            <pc:docMk/>
            <pc:sldMk cId="4283513346" sldId="256"/>
            <ac:spMk id="2" creationId="{4B057625-10EF-4C30-A8C8-D5A3DD099349}"/>
          </ac:spMkLst>
        </pc:spChg>
        <pc:spChg chg="mod">
          <ac:chgData name="Artyom Gnevnov" userId="2f0d4a8a008de216" providerId="LiveId" clId="{65889793-96AE-4A5D-B128-33EB4169B54F}" dt="2025-03-28T09:31:12.271" v="208"/>
          <ac:spMkLst>
            <pc:docMk/>
            <pc:sldMk cId="4283513346" sldId="256"/>
            <ac:spMk id="3" creationId="{EA131332-4AB2-4223-A26D-C0C897BE2568}"/>
          </ac:spMkLst>
        </pc:spChg>
      </pc:sldChg>
      <pc:sldChg chg="modSp new mod">
        <pc:chgData name="Artyom Gnevnov" userId="2f0d4a8a008de216" providerId="LiveId" clId="{65889793-96AE-4A5D-B128-33EB4169B54F}" dt="2025-03-28T09:31:12.333" v="209" actId="27636"/>
        <pc:sldMkLst>
          <pc:docMk/>
          <pc:sldMk cId="783983508" sldId="257"/>
        </pc:sldMkLst>
        <pc:spChg chg="mod">
          <ac:chgData name="Artyom Gnevnov" userId="2f0d4a8a008de216" providerId="LiveId" clId="{65889793-96AE-4A5D-B128-33EB4169B54F}" dt="2025-03-28T09:31:12.271" v="208"/>
          <ac:spMkLst>
            <pc:docMk/>
            <pc:sldMk cId="783983508" sldId="257"/>
            <ac:spMk id="2" creationId="{D560CB12-FA02-46DD-95C7-B0AA272C03A7}"/>
          </ac:spMkLst>
        </pc:spChg>
        <pc:spChg chg="mod">
          <ac:chgData name="Artyom Gnevnov" userId="2f0d4a8a008de216" providerId="LiveId" clId="{65889793-96AE-4A5D-B128-33EB4169B54F}" dt="2025-03-28T09:31:12.333" v="209" actId="27636"/>
          <ac:spMkLst>
            <pc:docMk/>
            <pc:sldMk cId="783983508" sldId="257"/>
            <ac:spMk id="3" creationId="{8B6A2D07-CC8A-4918-BE52-322E9115DFB2}"/>
          </ac:spMkLst>
        </pc:spChg>
      </pc:sldChg>
      <pc:sldChg chg="modSp new mod">
        <pc:chgData name="Artyom Gnevnov" userId="2f0d4a8a008de216" providerId="LiveId" clId="{65889793-96AE-4A5D-B128-33EB4169B54F}" dt="2025-03-28T09:32:11.098" v="236" actId="1076"/>
        <pc:sldMkLst>
          <pc:docMk/>
          <pc:sldMk cId="1749220451" sldId="258"/>
        </pc:sldMkLst>
        <pc:spChg chg="mod">
          <ac:chgData name="Artyom Gnevnov" userId="2f0d4a8a008de216" providerId="LiveId" clId="{65889793-96AE-4A5D-B128-33EB4169B54F}" dt="2025-03-28T09:32:11.098" v="236" actId="1076"/>
          <ac:spMkLst>
            <pc:docMk/>
            <pc:sldMk cId="1749220451" sldId="258"/>
            <ac:spMk id="2" creationId="{C9DD949A-B563-41E5-8763-D8A4B7DCAE67}"/>
          </ac:spMkLst>
        </pc:spChg>
        <pc:spChg chg="mod">
          <ac:chgData name="Artyom Gnevnov" userId="2f0d4a8a008de216" providerId="LiveId" clId="{65889793-96AE-4A5D-B128-33EB4169B54F}" dt="2025-03-28T09:31:51.410" v="232" actId="27636"/>
          <ac:spMkLst>
            <pc:docMk/>
            <pc:sldMk cId="1749220451" sldId="258"/>
            <ac:spMk id="3" creationId="{41A03985-A05C-4357-927D-1528FF85E843}"/>
          </ac:spMkLst>
        </pc:spChg>
      </pc:sldChg>
      <pc:sldChg chg="modSp new mod">
        <pc:chgData name="Artyom Gnevnov" userId="2f0d4a8a008de216" providerId="LiveId" clId="{65889793-96AE-4A5D-B128-33EB4169B54F}" dt="2025-03-28T09:32:52.754" v="247" actId="1076"/>
        <pc:sldMkLst>
          <pc:docMk/>
          <pc:sldMk cId="3045672334" sldId="259"/>
        </pc:sldMkLst>
        <pc:spChg chg="mod">
          <ac:chgData name="Artyom Gnevnov" userId="2f0d4a8a008de216" providerId="LiveId" clId="{65889793-96AE-4A5D-B128-33EB4169B54F}" dt="2025-03-28T09:32:52.754" v="247" actId="1076"/>
          <ac:spMkLst>
            <pc:docMk/>
            <pc:sldMk cId="3045672334" sldId="259"/>
            <ac:spMk id="2" creationId="{86B91ECA-2880-45A1-AF61-354C7D407991}"/>
          </ac:spMkLst>
        </pc:spChg>
        <pc:spChg chg="mod">
          <ac:chgData name="Artyom Gnevnov" userId="2f0d4a8a008de216" providerId="LiveId" clId="{65889793-96AE-4A5D-B128-33EB4169B54F}" dt="2025-03-28T09:32:32.634" v="244" actId="403"/>
          <ac:spMkLst>
            <pc:docMk/>
            <pc:sldMk cId="3045672334" sldId="259"/>
            <ac:spMk id="3" creationId="{23E25CDF-4BA6-4700-887F-A4B1B6AC5FFB}"/>
          </ac:spMkLst>
        </pc:spChg>
      </pc:sldChg>
      <pc:sldChg chg="modSp new mod">
        <pc:chgData name="Artyom Gnevnov" userId="2f0d4a8a008de216" providerId="LiveId" clId="{65889793-96AE-4A5D-B128-33EB4169B54F}" dt="2025-03-28T09:33:06.579" v="257" actId="27636"/>
        <pc:sldMkLst>
          <pc:docMk/>
          <pc:sldMk cId="3336309371" sldId="260"/>
        </pc:sldMkLst>
        <pc:spChg chg="mod">
          <ac:chgData name="Artyom Gnevnov" userId="2f0d4a8a008de216" providerId="LiveId" clId="{65889793-96AE-4A5D-B128-33EB4169B54F}" dt="2025-03-28T09:32:48.629" v="246" actId="1076"/>
          <ac:spMkLst>
            <pc:docMk/>
            <pc:sldMk cId="3336309371" sldId="260"/>
            <ac:spMk id="2" creationId="{46F40992-D841-417C-8BB9-000A13C873C0}"/>
          </ac:spMkLst>
        </pc:spChg>
        <pc:spChg chg="mod">
          <ac:chgData name="Artyom Gnevnov" userId="2f0d4a8a008de216" providerId="LiveId" clId="{65889793-96AE-4A5D-B128-33EB4169B54F}" dt="2025-03-28T09:33:06.579" v="257" actId="27636"/>
          <ac:spMkLst>
            <pc:docMk/>
            <pc:sldMk cId="3336309371" sldId="260"/>
            <ac:spMk id="3" creationId="{769F2DE5-C211-4B9A-8D43-EF0170F78F50}"/>
          </ac:spMkLst>
        </pc:spChg>
      </pc:sldChg>
      <pc:sldChg chg="modSp new mod">
        <pc:chgData name="Artyom Gnevnov" userId="2f0d4a8a008de216" providerId="LiveId" clId="{65889793-96AE-4A5D-B128-33EB4169B54F}" dt="2025-03-28T09:33:35.396" v="265" actId="403"/>
        <pc:sldMkLst>
          <pc:docMk/>
          <pc:sldMk cId="1630178126" sldId="261"/>
        </pc:sldMkLst>
        <pc:spChg chg="mod">
          <ac:chgData name="Artyom Gnevnov" userId="2f0d4a8a008de216" providerId="LiveId" clId="{65889793-96AE-4A5D-B128-33EB4169B54F}" dt="2025-03-28T09:33:23.745" v="260" actId="1076"/>
          <ac:spMkLst>
            <pc:docMk/>
            <pc:sldMk cId="1630178126" sldId="261"/>
            <ac:spMk id="2" creationId="{90748381-55FB-430B-9FFF-350CB4E0DECD}"/>
          </ac:spMkLst>
        </pc:spChg>
        <pc:spChg chg="mod">
          <ac:chgData name="Artyom Gnevnov" userId="2f0d4a8a008de216" providerId="LiveId" clId="{65889793-96AE-4A5D-B128-33EB4169B54F}" dt="2025-03-28T09:33:35.396" v="265" actId="403"/>
          <ac:spMkLst>
            <pc:docMk/>
            <pc:sldMk cId="1630178126" sldId="261"/>
            <ac:spMk id="3" creationId="{533B8146-8B42-4046-98ED-D4F5E5C339CD}"/>
          </ac:spMkLst>
        </pc:spChg>
      </pc:sldChg>
      <pc:sldChg chg="modSp new mod">
        <pc:chgData name="Artyom Gnevnov" userId="2f0d4a8a008de216" providerId="LiveId" clId="{65889793-96AE-4A5D-B128-33EB4169B54F}" dt="2025-03-28T09:33:59.273" v="272" actId="403"/>
        <pc:sldMkLst>
          <pc:docMk/>
          <pc:sldMk cId="1669603896" sldId="262"/>
        </pc:sldMkLst>
        <pc:spChg chg="mod">
          <ac:chgData name="Artyom Gnevnov" userId="2f0d4a8a008de216" providerId="LiveId" clId="{65889793-96AE-4A5D-B128-33EB4169B54F}" dt="2025-03-28T09:33:45.633" v="267" actId="1076"/>
          <ac:spMkLst>
            <pc:docMk/>
            <pc:sldMk cId="1669603896" sldId="262"/>
            <ac:spMk id="2" creationId="{A872AE19-D946-4DD3-87E4-E5877398DA0D}"/>
          </ac:spMkLst>
        </pc:spChg>
        <pc:spChg chg="mod">
          <ac:chgData name="Artyom Gnevnov" userId="2f0d4a8a008de216" providerId="LiveId" clId="{65889793-96AE-4A5D-B128-33EB4169B54F}" dt="2025-03-28T09:33:59.273" v="272" actId="403"/>
          <ac:spMkLst>
            <pc:docMk/>
            <pc:sldMk cId="1669603896" sldId="262"/>
            <ac:spMk id="3" creationId="{19D7FEEC-375A-429F-ACED-9C920AC03ED4}"/>
          </ac:spMkLst>
        </pc:spChg>
      </pc:sldChg>
      <pc:sldChg chg="modSp new mod">
        <pc:chgData name="Artyom Gnevnov" userId="2f0d4a8a008de216" providerId="LiveId" clId="{65889793-96AE-4A5D-B128-33EB4169B54F}" dt="2025-03-28T09:34:21.481" v="283" actId="27636"/>
        <pc:sldMkLst>
          <pc:docMk/>
          <pc:sldMk cId="1405042227" sldId="263"/>
        </pc:sldMkLst>
        <pc:spChg chg="mod">
          <ac:chgData name="Artyom Gnevnov" userId="2f0d4a8a008de216" providerId="LiveId" clId="{65889793-96AE-4A5D-B128-33EB4169B54F}" dt="2025-03-28T09:34:11.941" v="275" actId="1076"/>
          <ac:spMkLst>
            <pc:docMk/>
            <pc:sldMk cId="1405042227" sldId="263"/>
            <ac:spMk id="2" creationId="{F7484F08-3FA3-4D08-A648-BA4BEB049E66}"/>
          </ac:spMkLst>
        </pc:spChg>
        <pc:spChg chg="mod">
          <ac:chgData name="Artyom Gnevnov" userId="2f0d4a8a008de216" providerId="LiveId" clId="{65889793-96AE-4A5D-B128-33EB4169B54F}" dt="2025-03-28T09:34:21.481" v="283" actId="27636"/>
          <ac:spMkLst>
            <pc:docMk/>
            <pc:sldMk cId="1405042227" sldId="263"/>
            <ac:spMk id="3" creationId="{BD0D9D5E-D609-44C4-8618-BE090D1C59CF}"/>
          </ac:spMkLst>
        </pc:spChg>
      </pc:sldChg>
      <pc:sldChg chg="modSp new mod">
        <pc:chgData name="Artyom Gnevnov" userId="2f0d4a8a008de216" providerId="LiveId" clId="{65889793-96AE-4A5D-B128-33EB4169B54F}" dt="2025-03-28T09:34:49.854" v="293" actId="1076"/>
        <pc:sldMkLst>
          <pc:docMk/>
          <pc:sldMk cId="3799797950" sldId="264"/>
        </pc:sldMkLst>
        <pc:spChg chg="mod">
          <ac:chgData name="Artyom Gnevnov" userId="2f0d4a8a008de216" providerId="LiveId" clId="{65889793-96AE-4A5D-B128-33EB4169B54F}" dt="2025-03-28T09:34:37.158" v="286" actId="1076"/>
          <ac:spMkLst>
            <pc:docMk/>
            <pc:sldMk cId="3799797950" sldId="264"/>
            <ac:spMk id="2" creationId="{873E7A68-A343-4CD0-9EF1-07FE3B6E8954}"/>
          </ac:spMkLst>
        </pc:spChg>
        <pc:spChg chg="mod">
          <ac:chgData name="Artyom Gnevnov" userId="2f0d4a8a008de216" providerId="LiveId" clId="{65889793-96AE-4A5D-B128-33EB4169B54F}" dt="2025-03-28T09:34:49.854" v="293" actId="1076"/>
          <ac:spMkLst>
            <pc:docMk/>
            <pc:sldMk cId="3799797950" sldId="264"/>
            <ac:spMk id="3" creationId="{D22A23A8-A37E-421F-955E-3A7A5905E9B7}"/>
          </ac:spMkLst>
        </pc:spChg>
      </pc:sldChg>
      <pc:sldMasterChg chg="addSldLayout">
        <pc:chgData name="Artyom Gnevnov" userId="2f0d4a8a008de216" providerId="LiveId" clId="{65889793-96AE-4A5D-B128-33EB4169B54F}" dt="2025-03-28T09:13:12.921" v="0" actId="680"/>
        <pc:sldMasterMkLst>
          <pc:docMk/>
          <pc:sldMasterMk cId="1732395730" sldId="2147483648"/>
        </pc:sldMasterMkLst>
        <pc:sldLayoutChg chg="add">
          <pc:chgData name="Artyom Gnevnov" userId="2f0d4a8a008de216" providerId="LiveId" clId="{65889793-96AE-4A5D-B128-33EB4169B54F}" dt="2025-03-28T09:13:12.921" v="0" actId="680"/>
          <pc:sldLayoutMkLst>
            <pc:docMk/>
            <pc:sldMasterMk cId="1732395730" sldId="2147483648"/>
            <pc:sldLayoutMk cId="3033077708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27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73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46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63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431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36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34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876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22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812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7281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159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6439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757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299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42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06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pravochnick.ru/yazykoznanie_i_filologiya/leksikologiya_kak_razdel_yazykoznaniya/mnogoznachnost_v_leksikologii/" TargetMode="External"/><Relationship Id="rId2" Type="http://schemas.openxmlformats.org/officeDocument/2006/relationships/hyperlink" Target="https://en.wikipedia.org/wiki/Polysemy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ntcom-mgimo.ru/2019/2019-13/polysemy-and-context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057625-10EF-4C30-A8C8-D5A3DD0993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Многозначность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131332-4AB2-4223-A26D-C0C897BE25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800" dirty="0"/>
              <a:t>Гневнов Артем Евгеньевич, студент </a:t>
            </a:r>
            <a:r>
              <a:rPr lang="en-US" sz="2800" dirty="0"/>
              <a:t>3</a:t>
            </a:r>
            <a:r>
              <a:rPr lang="ru-RU" sz="2800" dirty="0"/>
              <a:t> курса, 2 группа, ИИТТО, РГПУ имени А.И. </a:t>
            </a:r>
            <a:r>
              <a:rPr lang="ru-RU" sz="2800" dirty="0" err="1"/>
              <a:t>Генцена</a:t>
            </a:r>
            <a:r>
              <a:rPr lang="ru-RU" sz="2800" dirty="0"/>
              <a:t>.</a:t>
            </a:r>
            <a:endParaRPr lang="en-US" sz="2800" dirty="0"/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3513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0CB12-FA02-46DD-95C7-B0AA272C03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Polysemy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6A2D07-CC8A-4918-BE52-322E9115DF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800" dirty="0"/>
              <a:t>Gnevnov Artem </a:t>
            </a:r>
            <a:r>
              <a:rPr lang="en-US" sz="2800" dirty="0" err="1"/>
              <a:t>Evgenievich</a:t>
            </a:r>
            <a:r>
              <a:rPr lang="en-US" sz="2800" dirty="0"/>
              <a:t>, 3nd year student, 2nd group,</a:t>
            </a:r>
            <a:r>
              <a:rPr lang="ru-RU" sz="2800" dirty="0"/>
              <a:t> </a:t>
            </a:r>
            <a:r>
              <a:rPr lang="en-US" sz="2800" dirty="0"/>
              <a:t>the Institute of Information Technology</a:t>
            </a:r>
            <a:r>
              <a:rPr lang="ru-RU" sz="2800" dirty="0"/>
              <a:t> </a:t>
            </a:r>
            <a:r>
              <a:rPr lang="en-US" sz="2800" dirty="0"/>
              <a:t>and Technology Education, Herzen University.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3983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D949A-B563-41E5-8763-D8A4B7DCA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822" y="729790"/>
            <a:ext cx="7766936" cy="757220"/>
          </a:xfrm>
        </p:spPr>
        <p:txBody>
          <a:bodyPr/>
          <a:lstStyle/>
          <a:p>
            <a:pPr algn="ctr"/>
            <a:r>
              <a:rPr lang="ru-RU" dirty="0"/>
              <a:t>Введение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A03985-A05C-4357-927D-1528FF85E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337" y="2880550"/>
            <a:ext cx="9155014" cy="2490440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/>
              <a:t>В английском языке многие слова имеют несколько значений.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/>
              <a:t>Контекст играет ключевую роль в понимании значения слова.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/>
              <a:t>Рассмотрим примеры многозначных слов и их употребление.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922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91ECA-2880-45A1-AF61-354C7D407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6966" y="917536"/>
            <a:ext cx="7766936" cy="792731"/>
          </a:xfrm>
        </p:spPr>
        <p:txBody>
          <a:bodyPr/>
          <a:lstStyle/>
          <a:p>
            <a:pPr algn="ctr"/>
            <a:r>
              <a:rPr lang="ru-RU" dirty="0"/>
              <a:t>Что это такое?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E25CDF-4BA6-4700-887F-A4B1B6AC5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666" y="2681057"/>
            <a:ext cx="8306337" cy="2466676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2800" b="1" dirty="0"/>
              <a:t>Многозначность (</a:t>
            </a:r>
            <a:r>
              <a:rPr lang="ru-RU" sz="2800" b="1" dirty="0" err="1"/>
              <a:t>Polysemy</a:t>
            </a:r>
            <a:r>
              <a:rPr lang="ru-RU" sz="2800" b="1" dirty="0"/>
              <a:t>)</a:t>
            </a:r>
            <a:r>
              <a:rPr lang="ru-RU" sz="2800" dirty="0"/>
              <a:t> – это наличие у одного слова нескольких значений.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/>
              <a:t>Пример: слово </a:t>
            </a:r>
            <a:r>
              <a:rPr lang="ru-RU" sz="2800" b="1" dirty="0"/>
              <a:t>"</a:t>
            </a:r>
            <a:r>
              <a:rPr lang="ru-RU" sz="2800" b="1" dirty="0" err="1"/>
              <a:t>run</a:t>
            </a:r>
            <a:r>
              <a:rPr lang="ru-RU" sz="2800" b="1" dirty="0"/>
              <a:t>"</a:t>
            </a:r>
            <a:r>
              <a:rPr lang="ru-RU" sz="2800" dirty="0"/>
              <a:t> может означать «бежать», «управлять» (бизнесом) или «работать» (о машине).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67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40992-D841-417C-8BB9-000A13C87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762165"/>
            <a:ext cx="7766936" cy="1646302"/>
          </a:xfrm>
        </p:spPr>
        <p:txBody>
          <a:bodyPr/>
          <a:lstStyle/>
          <a:p>
            <a:pPr algn="ctr"/>
            <a:r>
              <a:rPr lang="ru-RU" dirty="0"/>
              <a:t>Причины многозначности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9F2DE5-C211-4B9A-8D43-EF0170F78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8687" y="2902999"/>
            <a:ext cx="8235316" cy="2244734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/>
              <a:t>Эволюция языка и заимствования.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/>
              <a:t>Расширение значений в результате метафорического переноса.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/>
              <a:t>Сокращение и упрощение выражений.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36309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48381-55FB-430B-9FFF-350CB4E0D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3379"/>
            <a:ext cx="7766936" cy="794873"/>
          </a:xfrm>
        </p:spPr>
        <p:txBody>
          <a:bodyPr/>
          <a:lstStyle/>
          <a:p>
            <a:pPr algn="ctr"/>
            <a:r>
              <a:rPr lang="ru-RU" dirty="0"/>
              <a:t>Примеры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3B8146-8B42-4046-98ED-D4F5E5C33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480" y="2166151"/>
            <a:ext cx="10005134" cy="4101483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ru-RU" sz="2800" b="1" dirty="0"/>
              <a:t>"</a:t>
            </a:r>
            <a:r>
              <a:rPr lang="ru-RU" sz="2800" b="1" dirty="0" err="1"/>
              <a:t>Set</a:t>
            </a:r>
            <a:r>
              <a:rPr lang="ru-RU" sz="2800" b="1" dirty="0"/>
              <a:t>"</a:t>
            </a:r>
            <a:r>
              <a:rPr lang="ru-RU" sz="2800" dirty="0"/>
              <a:t> – устанавливать, комплект, набор, сцена.</a:t>
            </a:r>
          </a:p>
          <a:p>
            <a:pPr algn="just">
              <a:buFont typeface="+mj-lt"/>
              <a:buAutoNum type="arabicPeriod"/>
            </a:pPr>
            <a:r>
              <a:rPr lang="ru-RU" sz="2800" b="1" dirty="0"/>
              <a:t>"Light"</a:t>
            </a:r>
            <a:r>
              <a:rPr lang="ru-RU" sz="2800" dirty="0"/>
              <a:t> – свет, легкий, зажигать.</a:t>
            </a:r>
          </a:p>
          <a:p>
            <a:pPr algn="just">
              <a:buFont typeface="+mj-lt"/>
              <a:buAutoNum type="arabicPeriod"/>
            </a:pPr>
            <a:r>
              <a:rPr lang="ru-RU" sz="2800" b="1" dirty="0"/>
              <a:t>"</a:t>
            </a:r>
            <a:r>
              <a:rPr lang="ru-RU" sz="2800" b="1" dirty="0" err="1"/>
              <a:t>Break</a:t>
            </a:r>
            <a:r>
              <a:rPr lang="ru-RU" sz="2800" b="1" dirty="0"/>
              <a:t>"</a:t>
            </a:r>
            <a:r>
              <a:rPr lang="ru-RU" sz="2800" dirty="0"/>
              <a:t> – ломать, перерыв, удача.</a:t>
            </a:r>
          </a:p>
          <a:p>
            <a:pPr algn="just">
              <a:buFont typeface="+mj-lt"/>
              <a:buAutoNum type="arabicPeriod"/>
            </a:pPr>
            <a:r>
              <a:rPr lang="ru-RU" sz="2800" b="1" dirty="0"/>
              <a:t>"Head"</a:t>
            </a:r>
            <a:r>
              <a:rPr lang="ru-RU" sz="2800" dirty="0"/>
              <a:t> – голова, руководитель, направляться.</a:t>
            </a:r>
          </a:p>
          <a:p>
            <a:pPr algn="just">
              <a:buFont typeface="+mj-lt"/>
              <a:buAutoNum type="arabicPeriod"/>
            </a:pPr>
            <a:r>
              <a:rPr lang="ru-RU" sz="2800" b="1" dirty="0"/>
              <a:t>"Bank"</a:t>
            </a:r>
            <a:r>
              <a:rPr lang="ru-RU" sz="2800" dirty="0"/>
              <a:t> – банк, берег реки, наклон.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30178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72AE19-D946-4DD3-87E4-E5877398D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129" y="766609"/>
            <a:ext cx="3178003" cy="1014673"/>
          </a:xfrm>
        </p:spPr>
        <p:txBody>
          <a:bodyPr/>
          <a:lstStyle/>
          <a:p>
            <a:r>
              <a:rPr lang="ru-RU" dirty="0"/>
              <a:t>Контекст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D7FEEC-375A-429F-ACED-9C920AC03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459" y="2423604"/>
            <a:ext cx="10049522" cy="316045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i="1" dirty="0"/>
              <a:t>He broke his phone</a:t>
            </a:r>
            <a:r>
              <a:rPr lang="en-US" sz="2800" dirty="0"/>
              <a:t> (</a:t>
            </a:r>
            <a:r>
              <a:rPr lang="ru-RU" sz="2800" dirty="0"/>
              <a:t>Он сломал телефон).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i="1" dirty="0"/>
              <a:t>He caught a lucky break</a:t>
            </a:r>
            <a:r>
              <a:rPr lang="en-US" sz="2800" dirty="0"/>
              <a:t> (</a:t>
            </a:r>
            <a:r>
              <a:rPr lang="ru-RU" sz="2800" dirty="0"/>
              <a:t>Ему повезло / удача).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i="1" dirty="0"/>
              <a:t>Turn on the light</a:t>
            </a:r>
            <a:r>
              <a:rPr lang="en-US" sz="2800" dirty="0"/>
              <a:t> (</a:t>
            </a:r>
            <a:r>
              <a:rPr lang="ru-RU" sz="2800" dirty="0"/>
              <a:t>Включи свет).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i="1" dirty="0"/>
              <a:t>This bag is very light</a:t>
            </a:r>
            <a:r>
              <a:rPr lang="en-US" sz="2800" dirty="0"/>
              <a:t> (</a:t>
            </a:r>
            <a:r>
              <a:rPr lang="ru-RU" sz="2800" dirty="0"/>
              <a:t>Эта сумка очень лёгкая).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69603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84F08-3FA3-4D08-A648-BA4BEB049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923277"/>
            <a:ext cx="7766936" cy="899263"/>
          </a:xfrm>
        </p:spPr>
        <p:txBody>
          <a:bodyPr/>
          <a:lstStyle/>
          <a:p>
            <a:pPr algn="ctr"/>
            <a:r>
              <a:rPr lang="ru-RU" dirty="0"/>
              <a:t>Источники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0D9D5E-D609-44C4-8618-BE090D1C5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724" y="2707689"/>
            <a:ext cx="8528279" cy="2440043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AutoNum type="arabicPeriod"/>
            </a:pPr>
            <a:r>
              <a:rPr lang="en-US" sz="2800" dirty="0">
                <a:hlinkClick r:id="rId2"/>
              </a:rPr>
              <a:t>https://en.wikipedia.org/wiki/Polysemy</a:t>
            </a:r>
            <a:endParaRPr lang="ru-RU" sz="2800" dirty="0"/>
          </a:p>
          <a:p>
            <a:pPr marL="457200" indent="-457200" algn="just">
              <a:buAutoNum type="arabicPeriod"/>
            </a:pPr>
            <a:r>
              <a:rPr lang="en-US" sz="2800" dirty="0">
                <a:hlinkClick r:id="rId3"/>
              </a:rPr>
              <a:t>https://spravochnick.ru/yazykoznanie_i_filologiya/leksikologiya_kak_razdel_yazykoznaniya/mnogoznachnost_v_leksikologii/</a:t>
            </a:r>
            <a:endParaRPr lang="ru-RU" sz="2800" dirty="0"/>
          </a:p>
          <a:p>
            <a:pPr marL="457200" indent="-457200" algn="just">
              <a:buAutoNum type="arabicPeriod"/>
            </a:pPr>
            <a:r>
              <a:rPr lang="en-US" sz="2800" dirty="0">
                <a:hlinkClick r:id="rId4"/>
              </a:rPr>
              <a:t>https://intcom-mgimo.ru/2019/2019-13/polysemy-and-context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0504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E7A68-A343-4CD0-9EF1-07FE3B6E8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69709"/>
            <a:ext cx="7766936" cy="794874"/>
          </a:xfrm>
        </p:spPr>
        <p:txBody>
          <a:bodyPr/>
          <a:lstStyle/>
          <a:p>
            <a:pPr algn="ctr"/>
            <a:r>
              <a:rPr lang="ru-RU" dirty="0"/>
              <a:t>Вопросы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2A23A8-A37E-421F-955E-3A7A5905E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108" y="2423604"/>
            <a:ext cx="9969622" cy="3444536"/>
          </a:xfrm>
        </p:spPr>
        <p:txBody>
          <a:bodyPr>
            <a:normAutofit fontScale="92500"/>
          </a:bodyPr>
          <a:lstStyle/>
          <a:p>
            <a:pPr marL="457200" indent="-457200" algn="just">
              <a:buAutoNum type="arabicPeriod"/>
            </a:pPr>
            <a:r>
              <a:rPr lang="ru-RU" sz="2800" dirty="0"/>
              <a:t>Что такое многозначность (</a:t>
            </a:r>
            <a:r>
              <a:rPr lang="en-US" sz="2800" dirty="0"/>
              <a:t>polysemy)?</a:t>
            </a:r>
            <a:endParaRPr lang="ru-RU" sz="2800" dirty="0"/>
          </a:p>
          <a:p>
            <a:pPr marL="457200" indent="-457200" algn="just">
              <a:buAutoNum type="arabicPeriod"/>
            </a:pPr>
            <a:r>
              <a:rPr lang="ru-RU" sz="2800" dirty="0"/>
              <a:t>Почему в английском языке так много многозначных слов?</a:t>
            </a:r>
          </a:p>
          <a:p>
            <a:pPr marL="457200" indent="-457200" algn="just">
              <a:buAutoNum type="arabicPeriod"/>
            </a:pPr>
            <a:r>
              <a:rPr lang="ru-RU" sz="2800" dirty="0"/>
              <a:t>Какие многозначные слова в английском языке вам известны?</a:t>
            </a:r>
          </a:p>
          <a:p>
            <a:pPr marL="457200" indent="-457200" algn="just">
              <a:buAutoNum type="arabicPeriod"/>
            </a:pPr>
            <a:r>
              <a:rPr lang="ru-RU" sz="2800" dirty="0"/>
              <a:t>Влияет ли многозначность на перевод?</a:t>
            </a:r>
          </a:p>
          <a:p>
            <a:pPr marL="457200" indent="-457200" algn="just">
              <a:buAutoNum type="arabicPeriod"/>
            </a:pPr>
            <a:r>
              <a:rPr lang="ru-RU" sz="2800" dirty="0"/>
              <a:t>Какой способ изучения многозначных слов вам кажется наиболее эффективным?</a:t>
            </a:r>
          </a:p>
          <a:p>
            <a:pPr marL="457200" indent="-457200" algn="just"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9979795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</TotalTime>
  <Words>316</Words>
  <Application>Microsoft Office PowerPoint</Application>
  <PresentationFormat>Широкоэкранный</PresentationFormat>
  <Paragraphs>36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Многозначность</vt:lpstr>
      <vt:lpstr>Polysemy</vt:lpstr>
      <vt:lpstr>Введение</vt:lpstr>
      <vt:lpstr>Что это такое?</vt:lpstr>
      <vt:lpstr>Причины многозначности</vt:lpstr>
      <vt:lpstr>Примеры</vt:lpstr>
      <vt:lpstr>Контекст</vt:lpstr>
      <vt:lpstr>Источники</vt:lpstr>
      <vt:lpstr>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Многозначность</dc:title>
  <dc:creator>Artyom Gnevnov</dc:creator>
  <cp:lastModifiedBy>Artyom Gnevnov</cp:lastModifiedBy>
  <cp:revision>3</cp:revision>
  <dcterms:created xsi:type="dcterms:W3CDTF">2025-03-28T09:13:03Z</dcterms:created>
  <dcterms:modified xsi:type="dcterms:W3CDTF">2025-03-28T09:47:29Z</dcterms:modified>
</cp:coreProperties>
</file>