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66" r:id="rId4"/>
    <p:sldId id="258" r:id="rId5"/>
    <p:sldId id="259" r:id="rId6"/>
    <p:sldId id="260" r:id="rId7"/>
    <p:sldId id="264" r:id="rId8"/>
    <p:sldId id="265" r:id="rId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4" d="100"/>
          <a:sy n="114" d="100"/>
        </p:scale>
        <p:origin x="56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tyom Gnevnov" userId="2f0d4a8a008de216" providerId="LiveId" clId="{E3027DB8-8939-45B7-9410-08343DA6A218}"/>
    <pc:docChg chg="undo redo custSel modSld">
      <pc:chgData name="Artyom Gnevnov" userId="2f0d4a8a008de216" providerId="LiveId" clId="{E3027DB8-8939-45B7-9410-08343DA6A218}" dt="2026-05-25T17:13:05.858" v="374" actId="1076"/>
      <pc:docMkLst>
        <pc:docMk/>
      </pc:docMkLst>
      <pc:sldChg chg="modSp mod">
        <pc:chgData name="Artyom Gnevnov" userId="2f0d4a8a008de216" providerId="LiveId" clId="{E3027DB8-8939-45B7-9410-08343DA6A218}" dt="2026-05-25T16:34:26.587" v="106" actId="20577"/>
        <pc:sldMkLst>
          <pc:docMk/>
          <pc:sldMk cId="0" sldId="256"/>
        </pc:sldMkLst>
        <pc:spChg chg="mod">
          <ac:chgData name="Artyom Gnevnov" userId="2f0d4a8a008de216" providerId="LiveId" clId="{E3027DB8-8939-45B7-9410-08343DA6A218}" dt="2026-05-25T16:33:29.087" v="37" actId="20577"/>
          <ac:spMkLst>
            <pc:docMk/>
            <pc:sldMk cId="0" sldId="256"/>
            <ac:spMk id="54" creationId="{00000000-0000-0000-0000-000000000000}"/>
          </ac:spMkLst>
        </pc:spChg>
        <pc:spChg chg="mod">
          <ac:chgData name="Artyom Gnevnov" userId="2f0d4a8a008de216" providerId="LiveId" clId="{E3027DB8-8939-45B7-9410-08343DA6A218}" dt="2026-05-25T16:34:26.587" v="106" actId="20577"/>
          <ac:spMkLst>
            <pc:docMk/>
            <pc:sldMk cId="0" sldId="256"/>
            <ac:spMk id="55" creationId="{00000000-0000-0000-0000-000000000000}"/>
          </ac:spMkLst>
        </pc:spChg>
      </pc:sldChg>
      <pc:sldChg chg="modSp mod">
        <pc:chgData name="Artyom Gnevnov" userId="2f0d4a8a008de216" providerId="LiveId" clId="{E3027DB8-8939-45B7-9410-08343DA6A218}" dt="2026-05-25T16:45:53.324" v="147" actId="20577"/>
        <pc:sldMkLst>
          <pc:docMk/>
          <pc:sldMk cId="0" sldId="257"/>
        </pc:sldMkLst>
        <pc:spChg chg="mod">
          <ac:chgData name="Artyom Gnevnov" userId="2f0d4a8a008de216" providerId="LiveId" clId="{E3027DB8-8939-45B7-9410-08343DA6A218}" dt="2026-05-25T16:45:53.324" v="147" actId="20577"/>
          <ac:spMkLst>
            <pc:docMk/>
            <pc:sldMk cId="0" sldId="257"/>
            <ac:spMk id="61" creationId="{00000000-0000-0000-0000-000000000000}"/>
          </ac:spMkLst>
        </pc:spChg>
      </pc:sldChg>
      <pc:sldChg chg="modSp mod">
        <pc:chgData name="Artyom Gnevnov" userId="2f0d4a8a008de216" providerId="LiveId" clId="{E3027DB8-8939-45B7-9410-08343DA6A218}" dt="2026-05-25T16:50:26.516" v="242" actId="1076"/>
        <pc:sldMkLst>
          <pc:docMk/>
          <pc:sldMk cId="0" sldId="258"/>
        </pc:sldMkLst>
        <pc:spChg chg="mod">
          <ac:chgData name="Artyom Gnevnov" userId="2f0d4a8a008de216" providerId="LiveId" clId="{E3027DB8-8939-45B7-9410-08343DA6A218}" dt="2026-05-25T16:50:24.202" v="241" actId="1076"/>
          <ac:spMkLst>
            <pc:docMk/>
            <pc:sldMk cId="0" sldId="258"/>
            <ac:spMk id="67" creationId="{00000000-0000-0000-0000-000000000000}"/>
          </ac:spMkLst>
        </pc:spChg>
        <pc:spChg chg="mod">
          <ac:chgData name="Artyom Gnevnov" userId="2f0d4a8a008de216" providerId="LiveId" clId="{E3027DB8-8939-45B7-9410-08343DA6A218}" dt="2026-05-25T16:50:26.516" v="242" actId="1076"/>
          <ac:spMkLst>
            <pc:docMk/>
            <pc:sldMk cId="0" sldId="258"/>
            <ac:spMk id="68" creationId="{00000000-0000-0000-0000-000000000000}"/>
          </ac:spMkLst>
        </pc:spChg>
      </pc:sldChg>
      <pc:sldChg chg="modSp mod">
        <pc:chgData name="Artyom Gnevnov" userId="2f0d4a8a008de216" providerId="LiveId" clId="{E3027DB8-8939-45B7-9410-08343DA6A218}" dt="2026-05-25T16:51:52.344" v="273" actId="12"/>
        <pc:sldMkLst>
          <pc:docMk/>
          <pc:sldMk cId="0" sldId="259"/>
        </pc:sldMkLst>
        <pc:spChg chg="mod">
          <ac:chgData name="Artyom Gnevnov" userId="2f0d4a8a008de216" providerId="LiveId" clId="{E3027DB8-8939-45B7-9410-08343DA6A218}" dt="2026-05-25T16:51:52.344" v="273" actId="12"/>
          <ac:spMkLst>
            <pc:docMk/>
            <pc:sldMk cId="0" sldId="259"/>
            <ac:spMk id="75" creationId="{00000000-0000-0000-0000-000000000000}"/>
          </ac:spMkLst>
        </pc:spChg>
      </pc:sldChg>
      <pc:sldChg chg="addSp delSp modSp mod">
        <pc:chgData name="Artyom Gnevnov" userId="2f0d4a8a008de216" providerId="LiveId" clId="{E3027DB8-8939-45B7-9410-08343DA6A218}" dt="2026-05-25T16:53:31.450" v="291" actId="2164"/>
        <pc:sldMkLst>
          <pc:docMk/>
          <pc:sldMk cId="0" sldId="260"/>
        </pc:sldMkLst>
        <pc:spChg chg="add del mod">
          <ac:chgData name="Artyom Gnevnov" userId="2f0d4a8a008de216" providerId="LiveId" clId="{E3027DB8-8939-45B7-9410-08343DA6A218}" dt="2026-05-25T16:53:30.606" v="289" actId="478"/>
          <ac:spMkLst>
            <pc:docMk/>
            <pc:sldMk cId="0" sldId="260"/>
            <ac:spMk id="82" creationId="{00000000-0000-0000-0000-000000000000}"/>
          </ac:spMkLst>
        </pc:spChg>
        <pc:graphicFrameChg chg="add mod modGraphic">
          <ac:chgData name="Artyom Gnevnov" userId="2f0d4a8a008de216" providerId="LiveId" clId="{E3027DB8-8939-45B7-9410-08343DA6A218}" dt="2026-05-25T16:53:31.450" v="291" actId="2164"/>
          <ac:graphicFrameMkLst>
            <pc:docMk/>
            <pc:sldMk cId="0" sldId="260"/>
            <ac:graphicFrameMk id="2" creationId="{75F2F52D-10F4-4882-B44A-475A7C4890B3}"/>
          </ac:graphicFrameMkLst>
        </pc:graphicFrameChg>
      </pc:sldChg>
      <pc:sldChg chg="modSp mod">
        <pc:chgData name="Artyom Gnevnov" userId="2f0d4a8a008de216" providerId="LiveId" clId="{E3027DB8-8939-45B7-9410-08343DA6A218}" dt="2026-05-25T16:58:57.898" v="334" actId="14100"/>
        <pc:sldMkLst>
          <pc:docMk/>
          <pc:sldMk cId="0" sldId="264"/>
        </pc:sldMkLst>
        <pc:spChg chg="mod">
          <ac:chgData name="Artyom Gnevnov" userId="2f0d4a8a008de216" providerId="LiveId" clId="{E3027DB8-8939-45B7-9410-08343DA6A218}" dt="2026-05-25T16:58:57.898" v="334" actId="14100"/>
          <ac:spMkLst>
            <pc:docMk/>
            <pc:sldMk cId="0" sldId="264"/>
            <ac:spMk id="109" creationId="{00000000-0000-0000-0000-000000000000}"/>
          </ac:spMkLst>
        </pc:spChg>
      </pc:sldChg>
      <pc:sldChg chg="addSp delSp modSp mod">
        <pc:chgData name="Artyom Gnevnov" userId="2f0d4a8a008de216" providerId="LiveId" clId="{E3027DB8-8939-45B7-9410-08343DA6A218}" dt="2026-05-25T17:13:05.858" v="374" actId="1076"/>
        <pc:sldMkLst>
          <pc:docMk/>
          <pc:sldMk cId="0" sldId="265"/>
        </pc:sldMkLst>
        <pc:spChg chg="add del mod">
          <ac:chgData name="Artyom Gnevnov" userId="2f0d4a8a008de216" providerId="LiveId" clId="{E3027DB8-8939-45B7-9410-08343DA6A218}" dt="2026-05-25T17:12:59.324" v="373" actId="14100"/>
          <ac:spMkLst>
            <pc:docMk/>
            <pc:sldMk cId="0" sldId="265"/>
            <ac:spMk id="115" creationId="{00000000-0000-0000-0000-000000000000}"/>
          </ac:spMkLst>
        </pc:spChg>
        <pc:picChg chg="add del mod">
          <ac:chgData name="Artyom Gnevnov" userId="2f0d4a8a008de216" providerId="LiveId" clId="{E3027DB8-8939-45B7-9410-08343DA6A218}" dt="2026-05-25T17:12:28.256" v="363" actId="22"/>
          <ac:picMkLst>
            <pc:docMk/>
            <pc:sldMk cId="0" sldId="265"/>
            <ac:picMk id="3" creationId="{DADC09F5-F0C3-44F7-9524-22282B64EB5B}"/>
          </ac:picMkLst>
        </pc:picChg>
        <pc:picChg chg="add del">
          <ac:chgData name="Artyom Gnevnov" userId="2f0d4a8a008de216" providerId="LiveId" clId="{E3027DB8-8939-45B7-9410-08343DA6A218}" dt="2026-05-25T17:12:26.653" v="359" actId="22"/>
          <ac:picMkLst>
            <pc:docMk/>
            <pc:sldMk cId="0" sldId="265"/>
            <ac:picMk id="5" creationId="{BDC827C6-EB16-4E51-856C-8D92DB3228F2}"/>
          </ac:picMkLst>
        </pc:picChg>
        <pc:picChg chg="add del mod">
          <ac:chgData name="Artyom Gnevnov" userId="2f0d4a8a008de216" providerId="LiveId" clId="{E3027DB8-8939-45B7-9410-08343DA6A218}" dt="2026-05-25T17:12:25.503" v="357" actId="22"/>
          <ac:picMkLst>
            <pc:docMk/>
            <pc:sldMk cId="0" sldId="265"/>
            <ac:picMk id="7" creationId="{1CCA552C-B256-4D09-A655-5CDCCA4BEA2B}"/>
          </ac:picMkLst>
        </pc:picChg>
        <pc:picChg chg="add mod">
          <ac:chgData name="Artyom Gnevnov" userId="2f0d4a8a008de216" providerId="LiveId" clId="{E3027DB8-8939-45B7-9410-08343DA6A218}" dt="2026-05-25T17:13:05.858" v="374" actId="1076"/>
          <ac:picMkLst>
            <pc:docMk/>
            <pc:sldMk cId="0" sldId="265"/>
            <ac:picMk id="9" creationId="{773FD012-07D0-47BF-92F5-75B788B46DC1}"/>
          </ac:picMkLst>
        </pc:picChg>
      </pc:sldChg>
      <pc:sldChg chg="modSp mod">
        <pc:chgData name="Artyom Gnevnov" userId="2f0d4a8a008de216" providerId="LiveId" clId="{E3027DB8-8939-45B7-9410-08343DA6A218}" dt="2026-05-25T16:47:30.425" v="175" actId="948"/>
        <pc:sldMkLst>
          <pc:docMk/>
          <pc:sldMk cId="1382427228" sldId="266"/>
        </pc:sldMkLst>
        <pc:spChg chg="mod">
          <ac:chgData name="Artyom Gnevnov" userId="2f0d4a8a008de216" providerId="LiveId" clId="{E3027DB8-8939-45B7-9410-08343DA6A218}" dt="2026-05-25T16:46:26.226" v="168" actId="20577"/>
          <ac:spMkLst>
            <pc:docMk/>
            <pc:sldMk cId="1382427228" sldId="266"/>
            <ac:spMk id="60" creationId="{00000000-0000-0000-0000-000000000000}"/>
          </ac:spMkLst>
        </pc:spChg>
        <pc:spChg chg="mod">
          <ac:chgData name="Artyom Gnevnov" userId="2f0d4a8a008de216" providerId="LiveId" clId="{E3027DB8-8939-45B7-9410-08343DA6A218}" dt="2026-05-25T16:47:30.425" v="175" actId="948"/>
          <ac:spMkLst>
            <pc:docMk/>
            <pc:sldMk cId="1382427228" sldId="266"/>
            <ac:spMk id="6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2c161430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2c161430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2c161430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2c161430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4291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2c1614303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2c1614303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2c1614303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2c1614303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2c1614303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2c1614303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e5523acd3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1e5523acd3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e462d57c9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e462d57c9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0" y="203199"/>
            <a:ext cx="8520600" cy="116081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800" b="1" dirty="0">
                <a:latin typeface="Times New Roman"/>
                <a:ea typeface="Times New Roman"/>
                <a:cs typeface="Times New Roman"/>
                <a:sym typeface="Times New Roman"/>
              </a:rPr>
              <a:t>Разработка </a:t>
            </a:r>
            <a:r>
              <a:rPr lang="en-US" sz="2800" b="1" dirty="0">
                <a:latin typeface="Times New Roman"/>
                <a:ea typeface="Times New Roman"/>
                <a:cs typeface="Times New Roman"/>
                <a:sym typeface="Times New Roman"/>
              </a:rPr>
              <a:t>AI-</a:t>
            </a:r>
            <a:r>
              <a:rPr lang="ru-RU" sz="2800" b="1" dirty="0">
                <a:latin typeface="Times New Roman"/>
                <a:ea typeface="Times New Roman"/>
                <a:cs typeface="Times New Roman"/>
                <a:sym typeface="Times New Roman"/>
              </a:rPr>
              <a:t>сервиса техподдержки</a:t>
            </a:r>
            <a:endParaRPr sz="28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4735200" y="2055908"/>
            <a:ext cx="4408800" cy="29531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5461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Выполнил</a:t>
            </a:r>
            <a:r>
              <a:rPr lang="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endParaRPr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54610" lvl="0" indent="0" algn="l" rtl="0">
              <a:lnSpc>
                <a:spcPct val="115000"/>
              </a:lnSpc>
              <a:spcBef>
                <a:spcPts val="43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студент 4 курса</a:t>
            </a:r>
          </a:p>
          <a:p>
            <a:pPr marL="0" marR="54610" lvl="0" indent="0" algn="l" rtl="0">
              <a:lnSpc>
                <a:spcPct val="115000"/>
              </a:lnSpc>
              <a:spcBef>
                <a:spcPts val="43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09.03.01 Информатика и вычислительная техника, Технологии разработки программного  обеспечения</a:t>
            </a:r>
            <a:endParaRPr lang="ru"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54610" lvl="0" indent="0" algn="l" rtl="0">
              <a:lnSpc>
                <a:spcPct val="115000"/>
              </a:lnSpc>
              <a:spcBef>
                <a:spcPts val="43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Гневнов Артем Евгеньевич</a:t>
            </a:r>
            <a:endParaRPr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54610" lvl="0" indent="0" algn="l" rtl="0">
              <a:lnSpc>
                <a:spcPct val="115000"/>
              </a:lnSpc>
              <a:spcBef>
                <a:spcPts val="43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Руководитель</a:t>
            </a:r>
            <a:r>
              <a:rPr lang="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endParaRPr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54610" lvl="0" indent="0" algn="l" rtl="0">
              <a:lnSpc>
                <a:spcPct val="115000"/>
              </a:lnSpc>
              <a:spcBef>
                <a:spcPts val="430"/>
              </a:spcBef>
              <a:spcAft>
                <a:spcPts val="43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6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кандидат физико-математических наук, доцент кафедры ИТиЭО Жуков Николай Николаевич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/>
              <a:t>Актуальность</a:t>
            </a:r>
            <a:endParaRPr sz="3000" dirty="0"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427400"/>
            <a:ext cx="8520600" cy="257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 algn="l">
              <a:buNone/>
            </a:pPr>
            <a:r>
              <a:rPr lang="ru-RU" sz="2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Потребность: локальный AI-сервис, встраиваемый в систему</a:t>
            </a:r>
          </a:p>
          <a:p>
            <a:pPr marL="114300" indent="0" algn="l">
              <a:buNone/>
            </a:pPr>
            <a:r>
              <a:rPr lang="ru-RU" sz="2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управления заявками организации, без передачи данных</a:t>
            </a:r>
          </a:p>
          <a:p>
            <a:pPr marL="114300" indent="0" algn="l">
              <a:buNone/>
            </a:pPr>
            <a:r>
              <a:rPr lang="ru-RU" sz="2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внешним провайдерам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lang="ru-RU" sz="24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 dirty="0"/>
              <a:t>Предмет</a:t>
            </a:r>
            <a:r>
              <a:rPr lang="en-US" sz="3000" dirty="0"/>
              <a:t> </a:t>
            </a:r>
            <a:r>
              <a:rPr lang="ru-RU" sz="3000" dirty="0"/>
              <a:t>и объект</a:t>
            </a:r>
            <a:endParaRPr sz="3000" dirty="0"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235324" y="1427399"/>
            <a:ext cx="8596976" cy="362941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buNone/>
            </a:pPr>
            <a:r>
              <a:rPr lang="ru-RU" sz="24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ОБЪЕКТ ИССЛЕДОВАНИЯ</a:t>
            </a:r>
          </a:p>
          <a:p>
            <a:pPr marL="0" lvl="0" indent="0" algn="l" rtl="0">
              <a:spcBef>
                <a:spcPts val="0"/>
              </a:spcBef>
              <a:buNone/>
            </a:pPr>
            <a:r>
              <a:rPr lang="ru-RU" sz="24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Процесс автоматизированной обработки обращений </a:t>
            </a:r>
            <a:r>
              <a:rPr lang="ru-RU" sz="2400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пользователейв</a:t>
            </a:r>
            <a:r>
              <a:rPr lang="ru-RU" sz="24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системе технической поддержки.</a:t>
            </a:r>
          </a:p>
          <a:p>
            <a:pPr marL="0" lvl="0" indent="0" algn="l" rtl="0">
              <a:spcBef>
                <a:spcPts val="0"/>
              </a:spcBef>
              <a:buNone/>
            </a:pPr>
            <a:r>
              <a:rPr lang="ru-RU" sz="24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ПРЕДМЕТ ИССЛЕДОВАНИЯ</a:t>
            </a:r>
          </a:p>
          <a:p>
            <a:pPr marL="0" lvl="0" indent="0" algn="l" rtl="0">
              <a:spcBef>
                <a:spcPts val="0"/>
              </a:spcBef>
              <a:buNone/>
            </a:pPr>
            <a:r>
              <a:rPr lang="ru-RU" sz="24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Программные методы разработки AI-сервиса </a:t>
            </a:r>
            <a:r>
              <a:rPr lang="ru-RU" sz="2400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техническойподдержки</a:t>
            </a:r>
            <a:r>
              <a:rPr lang="ru-RU" sz="24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в микросервисной архитектуре с </a:t>
            </a:r>
            <a:r>
              <a:rPr lang="ru-RU" sz="2400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применениемлокальных</a:t>
            </a:r>
            <a:r>
              <a:rPr lang="ru-RU" sz="24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языковых моделей.</a:t>
            </a:r>
            <a:endParaRPr sz="24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824272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00" y="28366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>
                <a:latin typeface="Times New Roman"/>
                <a:ea typeface="Times New Roman"/>
                <a:cs typeface="Times New Roman"/>
                <a:sym typeface="Times New Roman"/>
              </a:rPr>
              <a:t>Цель</a:t>
            </a:r>
            <a:endParaRPr sz="3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311700" y="956176"/>
            <a:ext cx="8520600" cy="37070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just">
              <a:lnSpc>
                <a:spcPct val="150000"/>
              </a:lnSpc>
              <a:buClr>
                <a:schemeClr val="dk1"/>
              </a:buClr>
              <a:buSzPts val="1100"/>
              <a:buNone/>
            </a:pPr>
            <a:r>
              <a:rPr lang="ru-RU" sz="24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Разработать микросервис AI-технической поддержки, обеспечивающий:</a:t>
            </a:r>
          </a:p>
          <a:p>
            <a:pPr marL="342900" algn="just">
              <a:lnSpc>
                <a:spcPct val="150000"/>
              </a:lnSpc>
              <a:buClr>
                <a:schemeClr val="dk1"/>
              </a:buClr>
              <a:buSzPts val="1100"/>
            </a:pPr>
            <a:r>
              <a:rPr lang="ru-RU" sz="24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автоматическую обработку пользовательских обращений    на основе локальной языковой модели; </a:t>
            </a:r>
          </a:p>
          <a:p>
            <a:pPr marL="342900" algn="just">
              <a:lnSpc>
                <a:spcPct val="150000"/>
              </a:lnSpc>
              <a:buClr>
                <a:schemeClr val="dk1"/>
              </a:buClr>
              <a:buSzPts val="1100"/>
            </a:pPr>
            <a:r>
              <a:rPr lang="ru-RU" sz="24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сохранение полной истории диалога;  </a:t>
            </a:r>
          </a:p>
          <a:p>
            <a:pPr marL="342900" algn="just">
              <a:lnSpc>
                <a:spcPct val="150000"/>
              </a:lnSpc>
              <a:buClr>
                <a:schemeClr val="dk1"/>
              </a:buClr>
              <a:buSzPts val="1100"/>
            </a:pPr>
            <a:r>
              <a:rPr lang="ru-RU" sz="24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ограничение нагрузки на языковую модель; </a:t>
            </a:r>
          </a:p>
          <a:p>
            <a:pPr marL="342900" algn="just">
              <a:lnSpc>
                <a:spcPct val="150000"/>
              </a:lnSpc>
              <a:buClr>
                <a:schemeClr val="dk1"/>
              </a:buClr>
              <a:buSzPts val="1100"/>
            </a:pPr>
            <a:r>
              <a:rPr lang="ru-RU" sz="24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интеграцию в систему управления заявками.</a:t>
            </a:r>
            <a:endParaRPr sz="24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" name="Google Shape;69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Задачи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" name="Google Shape;75;p16"/>
          <p:cNvSpPr txBox="1">
            <a:spLocks noGrp="1"/>
          </p:cNvSpPr>
          <p:nvPr>
            <p:ph type="body" idx="1"/>
          </p:nvPr>
        </p:nvSpPr>
        <p:spPr>
          <a:xfrm>
            <a:off x="201705" y="1075765"/>
            <a:ext cx="8693523" cy="362271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algn="l" rtl="0">
              <a:buFont typeface="+mj-lt"/>
              <a:buAutoNum type="arabicPeriod"/>
            </a:pPr>
            <a:r>
              <a:rPr lang="ru-RU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Сравнительный анализ существующих AI-решений   в области автоматизации технической поддержки.</a:t>
            </a:r>
          </a:p>
          <a:p>
            <a:pPr marL="342900" lvl="0" algn="l" rtl="0">
              <a:buFont typeface="+mj-lt"/>
              <a:buAutoNum type="arabicPeriod"/>
            </a:pPr>
            <a:r>
              <a:rPr lang="ru-RU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Формулировка функциональных и нефункциональных   требований к разрабатываемому AI-сервису.</a:t>
            </a:r>
          </a:p>
          <a:p>
            <a:pPr marL="342900" lvl="0" algn="l" rtl="0">
              <a:buFont typeface="+mj-lt"/>
              <a:buAutoNum type="arabicPeriod"/>
            </a:pPr>
            <a:r>
              <a:rPr lang="ru-RU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Проектирование архитектуры микросервиса helperbot-</a:t>
            </a:r>
            <a:r>
              <a:rPr lang="ru-RU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</a:t>
            </a:r>
            <a:r>
              <a:rPr lang="ru-RU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и протокола его интеграции с системой управления заявками.</a:t>
            </a:r>
          </a:p>
          <a:p>
            <a:pPr marL="342900" lvl="0" algn="l" rtl="0">
              <a:buFont typeface="+mj-lt"/>
              <a:buAutoNum type="arabicPeriod"/>
            </a:pPr>
            <a:r>
              <a:rPr lang="ru-RU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Реализация микросервиса helperbot-</a:t>
            </a:r>
            <a:r>
              <a:rPr lang="ru-RU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</a:t>
            </a:r>
            <a:r>
              <a:rPr lang="ru-RU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gRPC-интерфейс,   хранение чатов в PostgreSQL, вызов локальной LLM   через Ollama.</a:t>
            </a:r>
          </a:p>
          <a:p>
            <a:pPr marL="342900" lvl="0" algn="l" rtl="0">
              <a:buFont typeface="+mj-lt"/>
              <a:buAutoNum type="arabicPeriod"/>
            </a:pPr>
            <a:r>
              <a:rPr lang="ru-RU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Интеграция helperbot-</a:t>
            </a:r>
            <a:r>
              <a:rPr lang="ru-RU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</a:t>
            </a:r>
            <a:r>
              <a:rPr lang="ru-RU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с сервисом бизнес-логики   helperbot-</a:t>
            </a:r>
            <a:r>
              <a:rPr lang="ru-RU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core</a:t>
            </a:r>
            <a:r>
              <a:rPr lang="ru-RU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и Telegram-ботом helperbot-tg.</a:t>
            </a:r>
          </a:p>
          <a:p>
            <a:pPr marL="342900" lvl="0" algn="l" rtl="0">
              <a:buFont typeface="+mj-lt"/>
              <a:buAutoNum type="arabicPeriod"/>
            </a:pPr>
            <a:r>
              <a:rPr lang="ru-RU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Тестирование системы и описание процедуры   развёртывания через </a:t>
            </a:r>
            <a:r>
              <a:rPr lang="ru-RU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Docker</a:t>
            </a:r>
            <a:r>
              <a:rPr lang="ru-RU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Compose</a:t>
            </a:r>
            <a:r>
              <a:rPr lang="ru-RU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" name="Google Shape;76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Инструменты и технологии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" name="Google Shape;82;p17"/>
          <p:cNvSpPr txBox="1">
            <a:spLocks noGrp="1"/>
          </p:cNvSpPr>
          <p:nvPr>
            <p:ph type="body" idx="1"/>
          </p:nvPr>
        </p:nvSpPr>
        <p:spPr>
          <a:xfrm>
            <a:off x="311700" y="13357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8890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endParaRPr sz="2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" name="Google Shape;83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6</a:t>
            </a:fld>
            <a:endParaRPr/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75F2F52D-10F4-4882-B44A-475A7C4890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592589"/>
              </p:ext>
            </p:extLst>
          </p:nvPr>
        </p:nvGraphicFramePr>
        <p:xfrm>
          <a:off x="311699" y="1193271"/>
          <a:ext cx="8520599" cy="3602433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751832">
                  <a:extLst>
                    <a:ext uri="{9D8B030D-6E8A-4147-A177-3AD203B41FA5}">
                      <a16:colId xmlns:a16="http://schemas.microsoft.com/office/drawing/2014/main" val="4058208263"/>
                    </a:ext>
                  </a:extLst>
                </a:gridCol>
                <a:gridCol w="2256256">
                  <a:extLst>
                    <a:ext uri="{9D8B030D-6E8A-4147-A177-3AD203B41FA5}">
                      <a16:colId xmlns:a16="http://schemas.microsoft.com/office/drawing/2014/main" val="1581714473"/>
                    </a:ext>
                  </a:extLst>
                </a:gridCol>
                <a:gridCol w="4512511">
                  <a:extLst>
                    <a:ext uri="{9D8B030D-6E8A-4147-A177-3AD203B41FA5}">
                      <a16:colId xmlns:a16="http://schemas.microsoft.com/office/drawing/2014/main" val="2896194413"/>
                    </a:ext>
                  </a:extLst>
                </a:gridCol>
              </a:tblGrid>
              <a:tr h="206748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Компонент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7968" marR="57968" marT="32204" marB="32204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</a:rPr>
                        <a:t>Технология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7968" marR="57968" marT="32204" marB="32204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Обоснование выбора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7968" marR="57968" marT="32204" marB="32204"/>
                </a:tc>
                <a:extLst>
                  <a:ext uri="{0D108BD9-81ED-4DB2-BD59-A6C34878D82A}">
                    <a16:rowId xmlns:a16="http://schemas.microsoft.com/office/drawing/2014/main" val="139251087"/>
                  </a:ext>
                </a:extLst>
              </a:tr>
              <a:tr h="335216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</a:rPr>
                        <a:t>Язык бэкенда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7968" marR="57968" marT="32204" marB="32204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</a:rPr>
                        <a:t>Go 1.24+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7968" marR="57968" marT="32204" marB="32204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 err="1">
                          <a:effectLst/>
                        </a:rPr>
                        <a:t>Горутины</a:t>
                      </a:r>
                      <a:r>
                        <a:rPr lang="ru-RU" sz="1200" dirty="0">
                          <a:effectLst/>
                        </a:rPr>
                        <a:t>, статический </a:t>
                      </a:r>
                      <a:r>
                        <a:rPr lang="ru-RU" sz="1200" dirty="0" err="1">
                          <a:effectLst/>
                        </a:rPr>
                        <a:t>бинарник</a:t>
                      </a:r>
                      <a:r>
                        <a:rPr lang="ru-RU" sz="1200" dirty="0">
                          <a:effectLst/>
                        </a:rPr>
                        <a:t>, нативный gRPC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7968" marR="57968" marT="32204" marB="32204"/>
                </a:tc>
                <a:extLst>
                  <a:ext uri="{0D108BD9-81ED-4DB2-BD59-A6C34878D82A}">
                    <a16:rowId xmlns:a16="http://schemas.microsoft.com/office/drawing/2014/main" val="670629196"/>
                  </a:ext>
                </a:extLst>
              </a:tr>
              <a:tr h="335216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</a:rPr>
                        <a:t>Протокол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7968" marR="57968" marT="32204" marB="32204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</a:rPr>
                        <a:t>gRPC + Protocol Buffers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7968" marR="57968" marT="32204" marB="32204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Типизированные контракты, HTTP/2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7968" marR="57968" marT="32204" marB="32204"/>
                </a:tc>
                <a:extLst>
                  <a:ext uri="{0D108BD9-81ED-4DB2-BD59-A6C34878D82A}">
                    <a16:rowId xmlns:a16="http://schemas.microsoft.com/office/drawing/2014/main" val="238953179"/>
                  </a:ext>
                </a:extLst>
              </a:tr>
              <a:tr h="335216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</a:rPr>
                        <a:t>Валидация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7968" marR="57968" marT="32204" marB="32204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 err="1">
                          <a:effectLst/>
                        </a:rPr>
                        <a:t>protoc-gen-validate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7968" marR="57968" marT="32204" marB="32204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Декларативные правила валидации в .</a:t>
                      </a:r>
                      <a:r>
                        <a:rPr lang="ru-RU" sz="1200" dirty="0" err="1">
                          <a:effectLst/>
                        </a:rPr>
                        <a:t>proto</a:t>
                      </a:r>
                      <a:r>
                        <a:rPr lang="ru-RU" sz="1200" dirty="0">
                          <a:effectLst/>
                        </a:rPr>
                        <a:t>-файле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7968" marR="57968" marT="32204" marB="32204"/>
                </a:tc>
                <a:extLst>
                  <a:ext uri="{0D108BD9-81ED-4DB2-BD59-A6C34878D82A}">
                    <a16:rowId xmlns:a16="http://schemas.microsoft.com/office/drawing/2014/main" val="3691845365"/>
                  </a:ext>
                </a:extLst>
              </a:tr>
              <a:tr h="335216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</a:rPr>
                        <a:t>СУБД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7968" marR="57968" marT="32204" marB="32204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</a:rPr>
                        <a:t>PostgreSQL 16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7968" marR="57968" marT="32204" marB="32204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ACID, UUID, гибкое индексирование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7968" marR="57968" marT="32204" marB="32204"/>
                </a:tc>
                <a:extLst>
                  <a:ext uri="{0D108BD9-81ED-4DB2-BD59-A6C34878D82A}">
                    <a16:rowId xmlns:a16="http://schemas.microsoft.com/office/drawing/2014/main" val="653091636"/>
                  </a:ext>
                </a:extLst>
              </a:tr>
              <a:tr h="335216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</a:rPr>
                        <a:t>Драйвер БД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7968" marR="57968" marT="32204" marB="32204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 err="1">
                          <a:effectLst/>
                        </a:rPr>
                        <a:t>pgx</a:t>
                      </a:r>
                      <a:r>
                        <a:rPr lang="ru-RU" sz="1200" dirty="0">
                          <a:effectLst/>
                        </a:rPr>
                        <a:t> v5 + </a:t>
                      </a:r>
                      <a:r>
                        <a:rPr lang="ru-RU" sz="1200" dirty="0" err="1">
                          <a:effectLst/>
                        </a:rPr>
                        <a:t>pgxpool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7968" marR="57968" marT="32204" marB="32204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Нативный Go-драйвер, пул соединений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7968" marR="57968" marT="32204" marB="32204"/>
                </a:tc>
                <a:extLst>
                  <a:ext uri="{0D108BD9-81ED-4DB2-BD59-A6C34878D82A}">
                    <a16:rowId xmlns:a16="http://schemas.microsoft.com/office/drawing/2014/main" val="3016065358"/>
                  </a:ext>
                </a:extLst>
              </a:tr>
              <a:tr h="335216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</a:rPr>
                        <a:t>DI-фреймворк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7968" marR="57968" marT="32204" marB="32204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</a:rPr>
                        <a:t>Uber FX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7968" marR="57968" marT="32204" marB="32204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Декларативное внедрение зависимостей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7968" marR="57968" marT="32204" marB="32204"/>
                </a:tc>
                <a:extLst>
                  <a:ext uri="{0D108BD9-81ED-4DB2-BD59-A6C34878D82A}">
                    <a16:rowId xmlns:a16="http://schemas.microsoft.com/office/drawing/2014/main" val="2031293972"/>
                  </a:ext>
                </a:extLst>
              </a:tr>
              <a:tr h="335216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</a:rPr>
                        <a:t>LLM-среда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7968" marR="57968" marT="32204" marB="32204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</a:rPr>
                        <a:t>Ollama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7968" marR="57968" marT="32204" marB="32204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Локальный запуск, HTTP API, Modelfile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7968" marR="57968" marT="32204" marB="32204"/>
                </a:tc>
                <a:extLst>
                  <a:ext uri="{0D108BD9-81ED-4DB2-BD59-A6C34878D82A}">
                    <a16:rowId xmlns:a16="http://schemas.microsoft.com/office/drawing/2014/main" val="2106473440"/>
                  </a:ext>
                </a:extLst>
              </a:tr>
              <a:tr h="335216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</a:rPr>
                        <a:t>Языковая модель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7968" marR="57968" marT="32204" marB="32204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</a:rPr>
                        <a:t>qwen2.5:1.5b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7968" marR="57968" marT="32204" marB="32204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Компактность, поддержка русского языка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7968" marR="57968" marT="32204" marB="32204"/>
                </a:tc>
                <a:extLst>
                  <a:ext uri="{0D108BD9-81ED-4DB2-BD59-A6C34878D82A}">
                    <a16:rowId xmlns:a16="http://schemas.microsoft.com/office/drawing/2014/main" val="176558599"/>
                  </a:ext>
                </a:extLst>
              </a:tr>
              <a:tr h="335216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</a:rPr>
                        <a:t>Миграции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7968" marR="57968" marT="32204" marB="32204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</a:rPr>
                        <a:t>Goose v3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7968" marR="57968" marT="32204" marB="32204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SQL-миграции, </a:t>
                      </a:r>
                      <a:r>
                        <a:rPr lang="ru-RU" sz="1200" dirty="0" err="1">
                          <a:effectLst/>
                        </a:rPr>
                        <a:t>версионирование</a:t>
                      </a:r>
                      <a:r>
                        <a:rPr lang="ru-RU" sz="1200" dirty="0">
                          <a:effectLst/>
                        </a:rPr>
                        <a:t>, </a:t>
                      </a:r>
                      <a:r>
                        <a:rPr lang="ru-RU" sz="1200" dirty="0" err="1">
                          <a:effectLst/>
                        </a:rPr>
                        <a:t>Docker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7968" marR="57968" marT="32204" marB="32204"/>
                </a:tc>
                <a:extLst>
                  <a:ext uri="{0D108BD9-81ED-4DB2-BD59-A6C34878D82A}">
                    <a16:rowId xmlns:a16="http://schemas.microsoft.com/office/drawing/2014/main" val="4150385271"/>
                  </a:ext>
                </a:extLst>
              </a:tr>
              <a:tr h="335216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>
                          <a:effectLst/>
                        </a:rPr>
                        <a:t>Оркестрация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7968" marR="57968" marT="32204" marB="32204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 err="1">
                          <a:effectLst/>
                        </a:rPr>
                        <a:t>Docker</a:t>
                      </a:r>
                      <a:r>
                        <a:rPr lang="ru-RU" sz="1200" dirty="0">
                          <a:effectLst/>
                        </a:rPr>
                        <a:t> </a:t>
                      </a:r>
                      <a:r>
                        <a:rPr lang="ru-RU" sz="1200" dirty="0" err="1">
                          <a:effectLst/>
                        </a:rPr>
                        <a:t>Compose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7968" marR="57968" marT="32204" marB="32204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</a:rPr>
                        <a:t>Единый запуск всего комплекса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57968" marR="57968" marT="32204" marB="32204"/>
                </a:tc>
                <a:extLst>
                  <a:ext uri="{0D108BD9-81ED-4DB2-BD59-A6C34878D82A}">
                    <a16:rowId xmlns:a16="http://schemas.microsoft.com/office/drawing/2014/main" val="15699376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Результат</a:t>
            </a:r>
            <a:endParaRPr dirty="0"/>
          </a:p>
        </p:txBody>
      </p:sp>
      <p:sp>
        <p:nvSpPr>
          <p:cNvPr id="109" name="Google Shape;109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54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ru-RU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Анализ — сравнение 5 решений → обоснован выбор </a:t>
            </a:r>
            <a:r>
              <a:rPr lang="en-US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Ollama.</a:t>
            </a:r>
            <a:endParaRPr lang="ru-RU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ru-RU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Требования — 6 функциональных + 8 нефункциональных,   закреплены в </a:t>
            </a:r>
            <a:r>
              <a:rPr lang="en-US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protoc</a:t>
            </a:r>
            <a:r>
              <a:rPr lang="en-US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-gen-validate.</a:t>
            </a:r>
            <a:endParaRPr lang="ru-RU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ru-RU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Архитектура — </a:t>
            </a:r>
            <a:r>
              <a:rPr lang="en-US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gRPC-</a:t>
            </a:r>
            <a:r>
              <a:rPr lang="ru-RU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контракт из 2 методов, БД из 2 таблиц,   без сущностей системы-хоста.</a:t>
            </a:r>
          </a:p>
          <a:p>
            <a:pPr marL="3429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ru-RU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Реализация — </a:t>
            </a:r>
            <a:r>
              <a:rPr lang="en-US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 + Uber FX; rate limit </a:t>
            </a:r>
            <a:r>
              <a:rPr lang="ru-RU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 </a:t>
            </a:r>
            <a:r>
              <a:rPr lang="en-US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SQL;   </a:t>
            </a:r>
            <a:r>
              <a:rPr lang="ru-RU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модель </a:t>
            </a:r>
            <a:r>
              <a:rPr lang="en-US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support-bot (qwen2.5:1.5b)</a:t>
            </a:r>
            <a:r>
              <a:rPr lang="ru-RU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3429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ru-RU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Интеграция — прокси в </a:t>
            </a:r>
            <a:r>
              <a:rPr lang="en-US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helperbot-core, FSM </a:t>
            </a:r>
            <a:r>
              <a:rPr lang="ru-RU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 </a:t>
            </a:r>
            <a:r>
              <a:rPr lang="en-US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helperbot-tg;   </a:t>
            </a:r>
            <a:r>
              <a:rPr lang="ru-RU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типизированные ошибки (</a:t>
            </a:r>
            <a:r>
              <a:rPr lang="en-US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errors.Is</a:t>
            </a:r>
            <a:r>
              <a:rPr lang="en-US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  <a:endParaRPr lang="ru-RU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ru-RU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Тесты и развёртывание — 10 юнит-тестов</a:t>
            </a:r>
            <a:r>
              <a:rPr lang="en-US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   </a:t>
            </a:r>
            <a:r>
              <a:rPr lang="ru-RU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запуск одной командой </a:t>
            </a:r>
            <a:r>
              <a:rPr lang="en-US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make compose-up.</a:t>
            </a:r>
            <a:endParaRPr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>
            <a:spLocks noGrp="1"/>
          </p:cNvSpPr>
          <p:nvPr>
            <p:ph type="body" idx="1"/>
          </p:nvPr>
        </p:nvSpPr>
        <p:spPr>
          <a:xfrm>
            <a:off x="193100" y="147917"/>
            <a:ext cx="3968765" cy="37636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ru-RU" sz="2800" dirty="0">
                <a:solidFill>
                  <a:srgbClr val="000000"/>
                </a:solidFill>
              </a:rPr>
              <a:t>Демонстрация работы продукта</a:t>
            </a:r>
          </a:p>
        </p:txBody>
      </p:sp>
      <p:sp>
        <p:nvSpPr>
          <p:cNvPr id="116" name="Google Shape;116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8</a:t>
            </a:fld>
            <a:endParaRPr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73FD012-07D0-47BF-92F5-75B788B46D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8408" y="43341"/>
            <a:ext cx="3565561" cy="505681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380</Words>
  <Application>Microsoft Office PowerPoint</Application>
  <PresentationFormat>Экран (16:9)</PresentationFormat>
  <Paragraphs>78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Calibri</vt:lpstr>
      <vt:lpstr>Times New Roman</vt:lpstr>
      <vt:lpstr>Simple Light</vt:lpstr>
      <vt:lpstr>Разработка AI-сервиса техподдержки</vt:lpstr>
      <vt:lpstr>Актуальность</vt:lpstr>
      <vt:lpstr>Предмет и объект</vt:lpstr>
      <vt:lpstr>Цель</vt:lpstr>
      <vt:lpstr>Задачи</vt:lpstr>
      <vt:lpstr>Инструменты и технологии</vt:lpstr>
      <vt:lpstr>Результат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Название ВКР</dc:title>
  <dc:creator>Светлана Гончарова</dc:creator>
  <cp:lastModifiedBy>Artyom Gnevnov</cp:lastModifiedBy>
  <cp:revision>4</cp:revision>
  <dcterms:modified xsi:type="dcterms:W3CDTF">2026-05-25T17:13:09Z</dcterms:modified>
</cp:coreProperties>
</file>